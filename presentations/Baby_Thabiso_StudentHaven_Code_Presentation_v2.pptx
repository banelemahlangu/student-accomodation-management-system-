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4c79077900458a" /><Relationship Type="http://schemas.openxmlformats.org/officeDocument/2006/relationships/extended-properties" Target="/docProps/app.xml" Id="R6b98132f42d842ed" /><Relationship Type="http://schemas.openxmlformats.org/officeDocument/2006/relationships/officeDocument" Target="/ppt/presentation.xml" Id="R30339f4d38d24aaa" /></Relationships>
</file>

<file path=ppt/presentation.xml><?xml version="1.0" encoding="utf-8"?>
<p:presentation xmlns:p="http://schemas.openxmlformats.org/presentationml/2006/main">
  <p:sldMasterIdLst>
    <p:sldMasterId xmlns:r="http://schemas.openxmlformats.org/officeDocument/2006/relationships" id="2147483648" r:id="Rdf5b2875c6e64b17"/>
  </p:sldMasterIdLst>
  <p:notesMasterIdLst>
    <p:notesMasterId xmlns:r="http://schemas.openxmlformats.org/officeDocument/2006/relationships" r:id="R48ff3fe0b9764fa3"/>
  </p:notesMasterIdLst>
  <p:sldIdLst>
    <p:sldId xmlns:r="http://schemas.openxmlformats.org/officeDocument/2006/relationships" id="256" r:id="R86bc1022dd29486d"/>
    <p:sldId xmlns:r="http://schemas.openxmlformats.org/officeDocument/2006/relationships" id="257" r:id="R9178ce63d4cf420d"/>
    <p:sldId xmlns:r="http://schemas.openxmlformats.org/officeDocument/2006/relationships" id="258" r:id="R53d4c0c3635d4c83"/>
    <p:sldId xmlns:r="http://schemas.openxmlformats.org/officeDocument/2006/relationships" id="259" r:id="Ref552d5ed0584d54"/>
    <p:sldId xmlns:r="http://schemas.openxmlformats.org/officeDocument/2006/relationships" id="260" r:id="Rc1b31a300ba64d76"/>
    <p:sldId xmlns:r="http://schemas.openxmlformats.org/officeDocument/2006/relationships" id="261" r:id="R4524800b33b74586"/>
    <p:sldId xmlns:r="http://schemas.openxmlformats.org/officeDocument/2006/relationships" id="262" r:id="R5bf88208ac4941d4"/>
    <p:sldId xmlns:r="http://schemas.openxmlformats.org/officeDocument/2006/relationships" id="263" r:id="R99767a489a664ebf"/>
    <p:sldId xmlns:r="http://schemas.openxmlformats.org/officeDocument/2006/relationships" id="264" r:id="R779738d69ed042dc"/>
    <p:sldId xmlns:r="http://schemas.openxmlformats.org/officeDocument/2006/relationships" id="265" r:id="R5bb10384a6da4a07"/>
    <p:sldId xmlns:r="http://schemas.openxmlformats.org/officeDocument/2006/relationships" id="266" r:id="Rcb66e654377246f6"/>
    <p:sldId xmlns:r="http://schemas.openxmlformats.org/officeDocument/2006/relationships" id="267" r:id="R54405a8dc7ff4242"/>
    <p:sldId xmlns:r="http://schemas.openxmlformats.org/officeDocument/2006/relationships" id="268" r:id="R289f11e4a43f4aec"/>
    <p:sldId xmlns:r="http://schemas.openxmlformats.org/officeDocument/2006/relationships" id="269" r:id="R5456dff52e94426d"/>
    <p:sldId xmlns:r="http://schemas.openxmlformats.org/officeDocument/2006/relationships" id="270" r:id="R62fa705616c143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179759a9fe4871" /><Relationship Type="http://schemas.openxmlformats.org/officeDocument/2006/relationships/slideMaster" Target="/ppt/slideMasters/slideMaster1.xml" Id="Rdf5b2875c6e64b17" /><Relationship Type="http://schemas.openxmlformats.org/officeDocument/2006/relationships/notesMaster" Target="/ppt/notesMasters/notesMaster1.xml" Id="R48ff3fe0b9764fa3" /><Relationship Type="http://schemas.openxmlformats.org/officeDocument/2006/relationships/presProps" Target="/ppt/presProps.xml" Id="R88b5d822f26543d7" /><Relationship Type="http://schemas.openxmlformats.org/officeDocument/2006/relationships/tableStyles" Target="/ppt/tableStyles.xml" Id="R648113b0ae7c487f" /><Relationship Type="http://schemas.openxmlformats.org/officeDocument/2006/relationships/slide" Target="/ppt/slides/slide1.xml" Id="R86bc1022dd29486d" /><Relationship Type="http://schemas.openxmlformats.org/officeDocument/2006/relationships/slide" Target="/ppt/slides/slide2.xml" Id="R9178ce63d4cf420d" /><Relationship Type="http://schemas.openxmlformats.org/officeDocument/2006/relationships/slide" Target="/ppt/slides/slide3.xml" Id="R53d4c0c3635d4c83" /><Relationship Type="http://schemas.openxmlformats.org/officeDocument/2006/relationships/slide" Target="/ppt/slides/slide4.xml" Id="Ref552d5ed0584d54" /><Relationship Type="http://schemas.openxmlformats.org/officeDocument/2006/relationships/slide" Target="/ppt/slides/slide5.xml" Id="Rc1b31a300ba64d76" /><Relationship Type="http://schemas.openxmlformats.org/officeDocument/2006/relationships/slide" Target="/ppt/slides/slide6.xml" Id="R4524800b33b74586" /><Relationship Type="http://schemas.openxmlformats.org/officeDocument/2006/relationships/slide" Target="/ppt/slides/slide7.xml" Id="R5bf88208ac4941d4" /><Relationship Type="http://schemas.openxmlformats.org/officeDocument/2006/relationships/slide" Target="/ppt/slides/slide8.xml" Id="R99767a489a664ebf" /><Relationship Type="http://schemas.openxmlformats.org/officeDocument/2006/relationships/slide" Target="/ppt/slides/slide9.xml" Id="R779738d69ed042dc" /><Relationship Type="http://schemas.openxmlformats.org/officeDocument/2006/relationships/slide" Target="/ppt/slides/slide10.xml" Id="R5bb10384a6da4a07" /><Relationship Type="http://schemas.openxmlformats.org/officeDocument/2006/relationships/slide" Target="/ppt/slides/slide11.xml" Id="Rcb66e654377246f6" /><Relationship Type="http://schemas.openxmlformats.org/officeDocument/2006/relationships/slide" Target="/ppt/slides/slide12.xml" Id="R54405a8dc7ff4242" /><Relationship Type="http://schemas.openxmlformats.org/officeDocument/2006/relationships/slide" Target="/ppt/slides/slide13.xml" Id="R289f11e4a43f4aec" /><Relationship Type="http://schemas.openxmlformats.org/officeDocument/2006/relationships/slide" Target="/ppt/slides/slide14.xml" Id="R5456dff52e94426d" /><Relationship Type="http://schemas.openxmlformats.org/officeDocument/2006/relationships/slide" Target="/ppt/slides/slide15.xml" Id="R62fa705616c143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05be3abc6f4e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22e903d64d431d" /><Relationship Type="http://schemas.openxmlformats.org/officeDocument/2006/relationships/notesMaster" Target="/ppt/notesMasters/notesMaster1.xml" Id="Rd892cd811d3740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7502a1149945f2" /><Relationship Type="http://schemas.openxmlformats.org/officeDocument/2006/relationships/notesMaster" Target="/ppt/notesMasters/notesMaster1.xml" Id="R28895b8a3b3c4e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85d77337cf4e07" /><Relationship Type="http://schemas.openxmlformats.org/officeDocument/2006/relationships/notesMaster" Target="/ppt/notesMasters/notesMaster1.xml" Id="Rcbba9a1dc7334c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7ac2c6c0474512" /><Relationship Type="http://schemas.openxmlformats.org/officeDocument/2006/relationships/notesMaster" Target="/ppt/notesMasters/notesMaster1.xml" Id="R10c147434abc4c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3d0bd5200c4fc2" /><Relationship Type="http://schemas.openxmlformats.org/officeDocument/2006/relationships/notesMaster" Target="/ppt/notesMasters/notesMaster1.xml" Id="R15e7735b05a649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2c0c5924194daa" /><Relationship Type="http://schemas.openxmlformats.org/officeDocument/2006/relationships/notesMaster" Target="/ppt/notesMasters/notesMaster1.xml" Id="R1ad580c2294748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a1471635a54c10" /><Relationship Type="http://schemas.openxmlformats.org/officeDocument/2006/relationships/notesMaster" Target="/ppt/notesMasters/notesMaster1.xml" Id="Rfe9069d3387948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77088465e744d9" /><Relationship Type="http://schemas.openxmlformats.org/officeDocument/2006/relationships/notesMaster" Target="/ppt/notesMasters/notesMaster1.xml" Id="Rb77a83e3f05f49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5df149899c4d16" /><Relationship Type="http://schemas.openxmlformats.org/officeDocument/2006/relationships/notesMaster" Target="/ppt/notesMasters/notesMaster1.xml" Id="R65900e043c7c4b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3544eabc934d35" /><Relationship Type="http://schemas.openxmlformats.org/officeDocument/2006/relationships/notesMaster" Target="/ppt/notesMasters/notesMaster1.xml" Id="R8e8dbf3bc45a4e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55ca0763d54929" /><Relationship Type="http://schemas.openxmlformats.org/officeDocument/2006/relationships/notesMaster" Target="/ppt/notesMasters/notesMaster1.xml" Id="R3f7c69b7c39d40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e7f5a67ffd4f1f" /><Relationship Type="http://schemas.openxmlformats.org/officeDocument/2006/relationships/notesMaster" Target="/ppt/notesMasters/notesMaster1.xml" Id="Rb9468857273345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4ce67a47164fc6" /><Relationship Type="http://schemas.openxmlformats.org/officeDocument/2006/relationships/notesMaster" Target="/ppt/notesMasters/notesMaster1.xml" Id="Rc7f48d789bf341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eea3f22b714e19" /><Relationship Type="http://schemas.openxmlformats.org/officeDocument/2006/relationships/notesMaster" Target="/ppt/notesMasters/notesMaster1.xml" Id="R5294ca3fa4dc49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8c95303f1a45cf" /><Relationship Type="http://schemas.openxmlformats.org/officeDocument/2006/relationships/notesMaster" Target="/ppt/notesMasters/notesMaster1.xml" Id="R3424bed64d2842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10 seconds. Say: Hello, I am Baby Thabiso Njabulo Manqele. I will trace how a student searches for accommodation, how that request reaches the backend, and how reviewed listings become visible. The final slides are backup questions, not part of the four-minute talk.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35 seconds. Say: Students search by property or location, filter by type and maximum price, and inspect location, price and availability. A result can be saved or added to a comparison of up to three properties. Search text is submitted through the form; sort, type and price changes reload through a React effect. If the system is running, show one result card before opening the code. These are implemented interactions, not user-study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Say: Discovery passes the current search and filters to getProperties. The helper in api.ts builds query parameters and sends a GET request. Django returns JSON, which the page stores in React state and renders as cards. If the request fails, the helper throws an error and the page displays it. Point to the call and helper boundaries; do not read every parameter. Code: frontend/src/pages/accommodation/Discovery.tsx:59-90 and frontend/src/services/api.ts:1303-1349.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35 seconds. Say: The backend decides which listings students can see. PropertyListView starts with approved properties, searches name and location fields, applies filters and sorts results. PropertySerializer returns the fields and nested room data the page needs. The view preloads related records; some serializer count methods still issue queries, which could be profiled for further optimization. References: accommodations/views.py:62-187 and accommodations/serializers.py:123-219.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35 seconds. Say: A property contains buildings, floors, rooms and beds. Rooms hold type, capacity, price, accessibility and status; beds hold a bed number and occupancy status. This structure lets the student page show a summary and then drill down. The model includes room-number uniqueness rules and decimal currency fields. Point to the foreign keys and status choices instead of reading the full model. References: accommodations/models.py:52-154 and 181-372; serializers.py:63-120 and 123-219.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Say: A landlord saves a draft, adds the property structure and uploads photos. Submission requires a verified landlord, a name, description, address, a photo and a bed in a room. An administrator approves the listing or requests changes; rejection requires a note. Only approved listings appear in student search. Server-side role and owner checks protect each landlord's data. Show the React save and submit handlers, then the backend checks. References: landlord/Properties.tsx:217-281; accommodations/views.py:406-432, 481-523 and 709-766; serializers.py:275-425.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Say: Students can compare up to three properties, save favorites and inspect rooms. Recommendations use transparent weighted rules, not machine learning. When a room is unavailable, a preference-based waiting list can send a matching offer with a 48-hour deadline. The path is React, api.ts, Django views, serializers and models. Close here; the rest is backup code references and lecturer questions. References: api.ts:1438-1484; accommodations/views.py:272-377; waitinglist/services.py:13-78.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backup reference slide, not part of the four-minute talk. These anchors form the exact demo path: start at Discovery.tsx line 59, then jump to getProperties in api.ts, then PropertyListView in accommodations/views.py, then PropertySerializer. The client page lines 418-558 show the card, but the request path is easier to explain from lines 59-90. The server list endpoint starts at 62. Its approved filter and search begin around 67-95; query filters and sorting run 101-175; the serializer call and response are 177-187. A serializer decides which fields and nested objects leave the server. These locations use the repository's current line numbers and can shift if source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map starts with the Property model, then the landlord frontend's handlers, then backend role and validation rules. The initial create path returns a draft. The separate submit endpoint requires a verified landlord and complete listing information. Nested structure endpoints create buildings, floors, rooms and beds. An administrator review endpoint decides whether a pending property is approved or rejected. Use Ctrl+G and type the starting line; line references are current as of this repository revision. Additional exact references: accommodations/views.py:406-432, 481-523, 573-706 and 709-766; serializers.py:275-425; api.ts:1631-1654.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maps the remainder of the assigned feature area so you can answer where a related behavior lives. The waiting-list service selects the highest-priority eligible student for an available bed, with creation time and id as tie breakers, and sets a 48-hour deadline. Student actions can accept or cancel; acceptance creates or updates an application draft. Recommendations are a rule-based score. The full frontend and backend folders are listed on the slide. All migrations, tests and management commands inside the assigned backend apps belong to this feature slice. App.css is shared: these ranges were allocated to this presenter in the group plan. Current exact references are given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Lecturer question bank. The visible draft answers are short starting points; explain them in your own words and open the cited code only when useful.</a:t>
            </a:r>
          </a:p>
          <a:p xmlns:a="http://schemas.openxmlformats.org/drawingml/2006/main">
            <a:r>
              <a:t/>
            </a:r>
          </a:p>
          <a:p xmlns:a="http://schemas.openxmlformats.org/drawingml/2006/main">
            <a:r>
              <a:t>1. Walk through one search from the student page to a result card.</a:t>
            </a:r>
          </a:p>
          <a:p xmlns:a="http://schemas.openxmlformats.org/drawingml/2006/main">
            <a:r>
              <a:t>Code reference: Discovery.tsx:59-90; api.ts:1303-1349; accommodations/views.py:62-187</a:t>
            </a:r>
          </a:p>
          <a:p xmlns:a="http://schemas.openxmlformats.org/drawingml/2006/main">
            <a:r>
              <a:t/>
            </a:r>
          </a:p>
          <a:p xmlns:a="http://schemas.openxmlformats.org/drawingml/2006/main">
            <a:r>
              <a:t>2. Why keep the request helper in api.ts instead of fetching in every page?</a:t>
            </a:r>
          </a:p>
          <a:p xmlns:a="http://schemas.openxmlformats.org/drawingml/2006/main">
            <a:r>
              <a:t>Code reference: api.ts:1303-1349</a:t>
            </a:r>
          </a:p>
          <a:p xmlns:a="http://schemas.openxmlformats.org/drawingml/2006/main">
            <a:r>
              <a:t/>
            </a:r>
          </a:p>
          <a:p xmlns:a="http://schemas.openxmlformats.org/drawingml/2006/main">
            <a:r>
              <a:t>3. What happens when the property request fails?</a:t>
            </a:r>
          </a:p>
          <a:p xmlns:a="http://schemas.openxmlformats.org/drawingml/2006/main">
            <a:r>
              <a:t>Code reference: Discovery.tsx:59-90; api.ts:1335-1348</a:t>
            </a:r>
          </a:p>
          <a:p xmlns:a="http://schemas.openxmlformats.org/drawingml/2006/main">
            <a:r>
              <a:t/>
            </a:r>
          </a:p>
          <a:p xmlns:a="http://schemas.openxmlformats.org/drawingml/2006/main">
            <a:r>
              <a:t>4. Does typing a search term immediately send a request?</a:t>
            </a:r>
          </a:p>
          <a:p xmlns:a="http://schemas.openxmlformats.org/drawingml/2006/main">
            <a:r>
              <a:t>Code reference: Discovery.tsx:59-95, 133-140</a:t>
            </a:r>
          </a:p>
          <a:p xmlns:a="http://schemas.openxmlformats.org/drawingml/2006/main">
            <a:r>
              <a:t/>
            </a:r>
          </a:p>
          <a:p xmlns:a="http://schemas.openxmlformats.org/drawingml/2006/main">
            <a:r>
              <a:t>5. What does the property result card show?</a:t>
            </a:r>
          </a:p>
          <a:p xmlns:a="http://schemas.openxmlformats.org/drawingml/2006/main">
            <a:r>
              <a:t>Code reference: Discovery.tsx:421-558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Lecturer question bank. The visible draft answers are short starting points; explain them in your own words and open the cited code only when useful.</a:t>
            </a:r>
          </a:p>
          <a:p xmlns:a="http://schemas.openxmlformats.org/drawingml/2006/main">
            <a:r>
              <a:t/>
            </a:r>
          </a:p>
          <a:p xmlns:a="http://schemas.openxmlformats.org/drawingml/2006/main">
            <a:r>
              <a:t>6. Which filters and sorts does the backend support?</a:t>
            </a:r>
          </a:p>
          <a:p xmlns:a="http://schemas.openxmlformats.org/drawingml/2006/main">
            <a:r>
              <a:t>Code reference: accommodations/views.py:87-175</a:t>
            </a:r>
          </a:p>
          <a:p xmlns:a="http://schemas.openxmlformats.org/drawingml/2006/main">
            <a:r>
              <a:t/>
            </a:r>
          </a:p>
          <a:p xmlns:a="http://schemas.openxmlformats.org/drawingml/2006/main">
            <a:r>
              <a:t>7. Why can an unauthenticated visitor browse properties?</a:t>
            </a:r>
          </a:p>
          <a:p xmlns:a="http://schemas.openxmlformats.org/drawingml/2006/main">
            <a:r>
              <a:t>Code reference: accommodations/views.py:62-80; serializers.py:123-185</a:t>
            </a:r>
          </a:p>
          <a:p xmlns:a="http://schemas.openxmlformats.org/drawingml/2006/main">
            <a:r>
              <a:t/>
            </a:r>
          </a:p>
          <a:p xmlns:a="http://schemas.openxmlformats.org/drawingml/2006/main">
            <a:r>
              <a:t>8. How are drafts and demo listings kept out of normal search?</a:t>
            </a:r>
          </a:p>
          <a:p xmlns:a="http://schemas.openxmlformats.org/drawingml/2006/main">
            <a:r>
              <a:t>Code reference: accommodations/views.py:49-80</a:t>
            </a:r>
          </a:p>
          <a:p xmlns:a="http://schemas.openxmlformats.org/drawingml/2006/main">
            <a:r>
              <a:t/>
            </a:r>
          </a:p>
          <a:p xmlns:a="http://schemas.openxmlformats.org/drawingml/2006/main">
            <a:r>
              <a:t>9. What happens if max_price contains text instead of a number?</a:t>
            </a:r>
          </a:p>
          <a:p xmlns:a="http://schemas.openxmlformats.org/drawingml/2006/main">
            <a:r>
              <a:t>Code reference: accommodations/views.py:129-140</a:t>
            </a:r>
          </a:p>
          <a:p xmlns:a="http://schemas.openxmlformats.org/drawingml/2006/main">
            <a:r>
              <a:t/>
            </a:r>
          </a:p>
          <a:p xmlns:a="http://schemas.openxmlformats.org/drawingml/2006/main">
            <a:r>
              <a:t>10. Why use select_related and prefetch_related?</a:t>
            </a:r>
          </a:p>
          <a:p xmlns:a="http://schemas.openxmlformats.org/drawingml/2006/main">
            <a:r>
              <a:t>Code reference: accommodations/views.py:67-80; serializers.py:187-218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Lecturer question bank. The visible draft answers are short starting points; explain them in your own words and open the cited code only when useful.</a:t>
            </a:r>
          </a:p>
          <a:p xmlns:a="http://schemas.openxmlformats.org/drawingml/2006/main">
            <a:r>
              <a:t/>
            </a:r>
          </a:p>
          <a:p xmlns:a="http://schemas.openxmlformats.org/drawingml/2006/main">
            <a:r>
              <a:t>11. What is a serializer doing in this feature?</a:t>
            </a:r>
          </a:p>
          <a:p xmlns:a="http://schemas.openxmlformats.org/drawingml/2006/main">
            <a:r>
              <a:t>Code reference: accommodations/serializers.py:63-219</a:t>
            </a:r>
          </a:p>
          <a:p xmlns:a="http://schemas.openxmlformats.org/drawingml/2006/main">
            <a:r>
              <a:t/>
            </a:r>
          </a:p>
          <a:p xmlns:a="http://schemas.openxmlformats.org/drawingml/2006/main">
            <a:r>
              <a:t>12. How does the system calculate available rooms and beds?</a:t>
            </a:r>
          </a:p>
          <a:p xmlns:a="http://schemas.openxmlformats.org/drawingml/2006/main">
            <a:r>
              <a:t>Code reference: serializers.py:117-120, 187-218; views.py:303-312</a:t>
            </a:r>
          </a:p>
          <a:p xmlns:a="http://schemas.openxmlformats.org/drawingml/2006/main">
            <a:r>
              <a:t/>
            </a:r>
          </a:p>
          <a:p xmlns:a="http://schemas.openxmlformats.org/drawingml/2006/main">
            <a:r>
              <a:t>13. Why model Property, Building, Floor, Room and Bed separately?</a:t>
            </a:r>
          </a:p>
          <a:p xmlns:a="http://schemas.openxmlformats.org/drawingml/2006/main">
            <a:r>
              <a:t>Code reference: accommodations/models.py:52-154, 181-372</a:t>
            </a:r>
          </a:p>
          <a:p xmlns:a="http://schemas.openxmlformats.org/drawingml/2006/main">
            <a:r>
              <a:t/>
            </a:r>
          </a:p>
          <a:p xmlns:a="http://schemas.openxmlformats.org/drawingml/2006/main">
            <a:r>
              <a:t>14. How are duplicate room numbers prevented?</a:t>
            </a:r>
          </a:p>
          <a:p xmlns:a="http://schemas.openxmlformats.org/drawingml/2006/main">
            <a:r>
              <a:t>Code reference: accommodations/models.py:250-318</a:t>
            </a:r>
          </a:p>
          <a:p xmlns:a="http://schemas.openxmlformats.org/drawingml/2006/main">
            <a:r>
              <a:t/>
            </a:r>
          </a:p>
          <a:p xmlns:a="http://schemas.openxmlformats.org/drawingml/2006/main">
            <a:r>
              <a:t>15. Why are monthly prices stored as DecimalField?</a:t>
            </a:r>
          </a:p>
          <a:p xmlns:a="http://schemas.openxmlformats.org/drawingml/2006/main">
            <a:r>
              <a:t>Code reference: accommodations/models.py:115-127, 272-275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Lecturer question bank. The visible draft answers are short starting points; explain them in your own words and open the cited code only when useful.</a:t>
            </a:r>
          </a:p>
          <a:p xmlns:a="http://schemas.openxmlformats.org/drawingml/2006/main">
            <a:r>
              <a:t/>
            </a:r>
          </a:p>
          <a:p xmlns:a="http://schemas.openxmlformats.org/drawingml/2006/main">
            <a:r>
              <a:t>16. Can one landlord read or change another landlord's property?</a:t>
            </a:r>
          </a:p>
          <a:p xmlns:a="http://schemas.openxmlformats.org/drawingml/2006/main">
            <a:r>
              <a:t>Code reference: accommodations/views.py:406-442</a:t>
            </a:r>
          </a:p>
          <a:p xmlns:a="http://schemas.openxmlformats.org/drawingml/2006/main">
            <a:r>
              <a:t/>
            </a:r>
          </a:p>
          <a:p xmlns:a="http://schemas.openxmlformats.org/drawingml/2006/main">
            <a:r>
              <a:t>17. What must be complete before a listing can be submitted?</a:t>
            </a:r>
          </a:p>
          <a:p xmlns:a="http://schemas.openxmlformats.org/drawingml/2006/main">
            <a:r>
              <a:t>Code reference: accommodations/views.py:481-511</a:t>
            </a:r>
          </a:p>
          <a:p xmlns:a="http://schemas.openxmlformats.org/drawingml/2006/main">
            <a:r>
              <a:t/>
            </a:r>
          </a:p>
          <a:p xmlns:a="http://schemas.openxmlformats.org/drawingml/2006/main">
            <a:r>
              <a:t>18. What happens when a landlord edits an approved listing?</a:t>
            </a:r>
          </a:p>
          <a:p xmlns:a="http://schemas.openxmlformats.org/drawingml/2006/main">
            <a:r>
              <a:t>Code reference: accommodations/views.py:450-478, 689-705</a:t>
            </a:r>
          </a:p>
          <a:p xmlns:a="http://schemas.openxmlformats.org/drawingml/2006/main">
            <a:r>
              <a:t/>
            </a:r>
          </a:p>
          <a:p xmlns:a="http://schemas.openxmlformats.org/drawingml/2006/main">
            <a:r>
              <a:t>19. What can the administrator do during property review?</a:t>
            </a:r>
          </a:p>
          <a:p xmlns:a="http://schemas.openxmlformats.org/drawingml/2006/main">
            <a:r>
              <a:t>Code reference: accommodations/views.py:709-766</a:t>
            </a:r>
          </a:p>
          <a:p xmlns:a="http://schemas.openxmlformats.org/drawingml/2006/main">
            <a:r>
              <a:t/>
            </a:r>
          </a:p>
          <a:p xmlns:a="http://schemas.openxmlformats.org/drawingml/2006/main">
            <a:r>
              <a:t>20. Where are compare IDs and saved properties stored?</a:t>
            </a:r>
          </a:p>
          <a:p xmlns:a="http://schemas.openxmlformats.org/drawingml/2006/main">
            <a:r>
              <a:t>Code reference: Discovery.tsx:97-130; accommodations/models.py:157-178; api.ts:1438-1455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Lecturer question bank. The visible draft answers are short starting points; explain them in your own words and open the cited code only when useful.</a:t>
            </a:r>
          </a:p>
          <a:p xmlns:a="http://schemas.openxmlformats.org/drawingml/2006/main">
            <a:r>
              <a:t/>
            </a:r>
          </a:p>
          <a:p xmlns:a="http://schemas.openxmlformats.org/drawingml/2006/main">
            <a:r>
              <a:t>21. Are accommodation recommendations generated by AI or machine learning?</a:t>
            </a:r>
          </a:p>
          <a:p xmlns:a="http://schemas.openxmlformats.org/drawingml/2006/main">
            <a:r>
              <a:t>Code reference: accommodations/views.py:272-377</a:t>
            </a:r>
          </a:p>
          <a:p xmlns:a="http://schemas.openxmlformats.org/drawingml/2006/main">
            <a:r>
              <a:t/>
            </a:r>
          </a:p>
          <a:p xmlns:a="http://schemas.openxmlformats.org/drawingml/2006/main">
            <a:r>
              <a:t>22. How is a recommendation score calculated?</a:t>
            </a:r>
          </a:p>
          <a:p xmlns:a="http://schemas.openxmlformats.org/drawingml/2006/main">
            <a:r>
              <a:t>Code reference: accommodations/views.py:302-377</a:t>
            </a:r>
          </a:p>
          <a:p xmlns:a="http://schemas.openxmlformats.org/drawingml/2006/main">
            <a:r>
              <a:t/>
            </a:r>
          </a:p>
          <a:p xmlns:a="http://schemas.openxmlformats.org/drawingml/2006/main">
            <a:r>
              <a:t>23. How does the waiting list choose who gets a bed offer?</a:t>
            </a:r>
          </a:p>
          <a:p xmlns:a="http://schemas.openxmlformats.org/drawingml/2006/main">
            <a:r>
              <a:t>Code reference: waitinglist/services.py:13-78</a:t>
            </a:r>
          </a:p>
          <a:p xmlns:a="http://schemas.openxmlformats.org/drawingml/2006/main">
            <a:r>
              <a:t/>
            </a:r>
          </a:p>
          <a:p xmlns:a="http://schemas.openxmlformats.org/drawingml/2006/main">
            <a:r>
              <a:t>24. How does the code reduce the chance of offering one bed twice?</a:t>
            </a:r>
          </a:p>
          <a:p xmlns:a="http://schemas.openxmlformats.org/drawingml/2006/main">
            <a:r>
              <a:t>Code reference: waitinglist/services.py:13-52; waitinglist/views.py:144-186</a:t>
            </a:r>
          </a:p>
          <a:p xmlns:a="http://schemas.openxmlformats.org/drawingml/2006/main">
            <a:r>
              <a:t/>
            </a:r>
          </a:p>
          <a:p xmlns:a="http://schemas.openxmlformats.org/drawingml/2006/main">
            <a:r>
              <a:t>25. What usability evidence would show that student search is easy to use?</a:t>
            </a:r>
          </a:p>
          <a:p xmlns:a="http://schemas.openxmlformats.org/drawingml/2006/main">
            <a:r>
              <a:t>Code reference: Suggested Phase 4 study; distinguish measured results from code inspection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680d82918d45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e01f0094db4908" /><Relationship Type="http://schemas.openxmlformats.org/officeDocument/2006/relationships/slideLayout" Target="/ppt/slideLayouts/slideLayout1.xml" Id="R0a3a1540729949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3a1540729949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5a96f828b04a92" /><Relationship Type="http://schemas.openxmlformats.org/officeDocument/2006/relationships/notesSlide" Target="/ppt/notesSlides/notesSlide1.xml" Id="R943a7c6199e341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2b8dbd37504f3c" /><Relationship Type="http://schemas.openxmlformats.org/officeDocument/2006/relationships/notesSlide" Target="/ppt/notesSlides/notesSlide2.xml" Id="R83fb7a2e95514c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6faba802574052" /><Relationship Type="http://schemas.openxmlformats.org/officeDocument/2006/relationships/notesSlide" Target="/ppt/notesSlides/notesSlide3.xml" Id="R5b0cfc236d9743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2db9eaa9414b63" /><Relationship Type="http://schemas.openxmlformats.org/officeDocument/2006/relationships/notesSlide" Target="/ppt/notesSlides/notesSlide4.xml" Id="R298431c8153f44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f9339421ff450d" /><Relationship Type="http://schemas.openxmlformats.org/officeDocument/2006/relationships/notesSlide" Target="/ppt/notesSlides/notesSlide5.xml" Id="R83c61723cbe447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f4a173406e4a12" /><Relationship Type="http://schemas.openxmlformats.org/officeDocument/2006/relationships/notesSlide" Target="/ppt/notesSlides/notesSlide6.xml" Id="R8ab9bf006ad444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24a8110f6a4573" /><Relationship Type="http://schemas.openxmlformats.org/officeDocument/2006/relationships/notesSlide" Target="/ppt/notesSlides/notesSlide7.xml" Id="R201ee153019541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6d758b07254206" /><Relationship Type="http://schemas.openxmlformats.org/officeDocument/2006/relationships/notesSlide" Target="/ppt/notesSlides/notesSlide8.xml" Id="Rdbb61a8d28a74d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d056df2790467e" /><Relationship Type="http://schemas.openxmlformats.org/officeDocument/2006/relationships/notesSlide" Target="/ppt/notesSlides/notesSlide9.xml" Id="R3eb484abb3b047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78c3f3d853479d" /><Relationship Type="http://schemas.openxmlformats.org/officeDocument/2006/relationships/notesSlide" Target="/ppt/notesSlides/notesSlide10.xml" Id="Reaacd2dd8b044c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5f1503b257e42f0" /><Relationship Type="http://schemas.openxmlformats.org/officeDocument/2006/relationships/notesSlide" Target="/ppt/notesSlides/notesSlide11.xml" Id="R804a11e26eb54f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c66cc9440af45d4" /><Relationship Type="http://schemas.openxmlformats.org/officeDocument/2006/relationships/notesSlide" Target="/ppt/notesSlides/notesSlide12.xml" Id="R730c6473e88f4d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c9eccd485c4411" /><Relationship Type="http://schemas.openxmlformats.org/officeDocument/2006/relationships/notesSlide" Target="/ppt/notesSlides/notesSlide13.xml" Id="Rec4a1515857b47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d06c9eb895c44d4" /><Relationship Type="http://schemas.openxmlformats.org/officeDocument/2006/relationships/notesSlide" Target="/ppt/notesSlides/notesSlide14.xml" Id="R11c1c7fa68994e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5f829d189f4d00" /><Relationship Type="http://schemas.openxmlformats.org/officeDocument/2006/relationships/notesSlide" Target="/ppt/notesSlides/notesSlide15.xml" Id="R5afdec937ea54753" /></Relationships>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5069F8-5819-49A9-A772-6FBB416F8C4A}"/>
              </a:ext>
            </a:extLst>
          </p:cNvPr>
          <p:cNvSpPr>
            <a:spLocks xmlns:a="http://schemas.openxmlformats.org/drawingml/2006/main" noGrp="1"/>
          </p:cNvSpPr>
          <p:nvPr/>
        </p:nvSpPr>
        <p:spPr>
          <a:xfrm xmlns:a="http://schemas.openxmlformats.org/drawingml/2006/main">
            <a:off x="704850" y="8763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87E83"/>
                </a:solidFill>
                <a:latin typeface="Arial"/>
                <a:ea typeface="Arial"/>
                <a:cs typeface="Arial"/>
              </a:defRPr>
            </a:pPr>
            <a:r>
              <a:rPr sz="1275" b="1">
                <a:solidFill>
                  <a:srgbClr val="087E83"/>
                </a:solidFill>
                <a:latin typeface="Arial"/>
                <a:ea typeface="Arial"/>
                <a:cs typeface="Arial"/>
              </a:rPr>
              <a:t>STUDENTHAVEN  /  PHASE 4</a:t>
            </a:r>
          </a:p>
        </p:txBody>
      </p:sp>
      <p:sp>
        <p:nvSpPr>
          <p:cNvPr id="2" name="">
            <a:extLst xmlns:a="http://schemas.openxmlformats.org/drawingml/2006/main">
              <a:ext uri="{FF2B5EF4-FFF2-40B4-BE49-F238E27FC236}">
                <a16:creationId xmlns:a16="http://schemas.microsoft.com/office/drawing/2014/main" id="{28CC33C1-CE2C-4295-8B2E-72FDAE3BC286}"/>
              </a:ext>
            </a:extLst>
          </p:cNvPr>
          <p:cNvSpPr>
            <a:spLocks xmlns:a="http://schemas.openxmlformats.org/drawingml/2006/main" noGrp="1"/>
          </p:cNvSpPr>
          <p:nvPr/>
        </p:nvSpPr>
        <p:spPr>
          <a:xfrm xmlns:a="http://schemas.openxmlformats.org/drawingml/2006/main">
            <a:off x="704850" y="1552575"/>
            <a:ext cx="10477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900" b="1">
                <a:solidFill>
                  <a:srgbClr val="172A3A"/>
                </a:solidFill>
                <a:latin typeface="Arial"/>
                <a:ea typeface="Arial"/>
                <a:cs typeface="Arial"/>
              </a:defRPr>
            </a:pPr>
            <a:r>
              <a:rPr sz="3900" b="1">
                <a:solidFill>
                  <a:srgbClr val="172A3A"/>
                </a:solidFill>
                <a:latin typeface="Arial"/>
                <a:ea typeface="Arial"/>
                <a:cs typeface="Arial"/>
              </a:rPr>
              <a:t>Accommodation discovery</a:t>
            </a:r>
          </a:p>
          <a:p xmlns:a="http://schemas.openxmlformats.org/drawingml/2006/main">
            <a:pPr algn="l">
              <a:lnSpc>
                <a:spcPct val="100000"/>
              </a:lnSpc>
              <a:buNone/>
              <a:defRPr sz="3900" b="1">
                <a:solidFill>
                  <a:srgbClr val="172A3A"/>
                </a:solidFill>
                <a:latin typeface="Arial"/>
                <a:ea typeface="Arial"/>
                <a:cs typeface="Arial"/>
              </a:defRPr>
            </a:pPr>
            <a:r>
              <a:rPr sz="3900" b="1">
                <a:solidFill>
                  <a:srgbClr val="172A3A"/>
                </a:solidFill>
                <a:latin typeface="Arial"/>
                <a:ea typeface="Arial"/>
                <a:cs typeface="Arial"/>
              </a:rPr>
              <a:t>and property management</a:t>
            </a:r>
          </a:p>
        </p:txBody>
      </p:sp>
      <p:sp>
        <p:nvSpPr>
          <p:cNvPr id="3" name="">
            <a:extLst xmlns:a="http://schemas.openxmlformats.org/drawingml/2006/main">
              <a:ext uri="{FF2B5EF4-FFF2-40B4-BE49-F238E27FC236}">
                <a16:creationId xmlns:a16="http://schemas.microsoft.com/office/drawing/2014/main" id="{19B97237-26B7-4B42-9DA7-70A5FC1D7C1C}"/>
              </a:ext>
            </a:extLst>
          </p:cNvPr>
          <p:cNvSpPr>
            <a:spLocks xmlns:a="http://schemas.openxmlformats.org/drawingml/2006/main" noGrp="1"/>
          </p:cNvSpPr>
          <p:nvPr/>
        </p:nvSpPr>
        <p:spPr>
          <a:xfrm xmlns:a="http://schemas.openxmlformats.org/drawingml/2006/main">
            <a:off x="733425" y="32575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526474"/>
                </a:solidFill>
                <a:latin typeface="Arial"/>
                <a:ea typeface="Arial"/>
                <a:cs typeface="Arial"/>
              </a:defRPr>
            </a:pPr>
            <a:r>
              <a:rPr sz="1875" b="0">
                <a:solidFill>
                  <a:srgbClr val="526474"/>
                </a:solidFill>
                <a:latin typeface="Arial"/>
                <a:ea typeface="Arial"/>
                <a:cs typeface="Arial"/>
              </a:rPr>
              <a:t>A code walkthrough for the student housing search</a:t>
            </a:r>
          </a:p>
        </p:txBody>
      </p:sp>
      <p:sp>
        <p:nvSpPr>
          <p:cNvPr id="4" name="">
            <a:extLst xmlns:a="http://schemas.openxmlformats.org/drawingml/2006/main">
              <a:ext uri="{FF2B5EF4-FFF2-40B4-BE49-F238E27FC236}">
                <a16:creationId xmlns:a16="http://schemas.microsoft.com/office/drawing/2014/main" id="{403BF166-F48F-4221-A5F7-BE792E970308}"/>
              </a:ext>
            </a:extLst>
          </p:cNvPr>
          <p:cNvSpPr>
            <a:spLocks xmlns:a="http://schemas.openxmlformats.org/drawingml/2006/main" noGrp="1"/>
          </p:cNvSpPr>
          <p:nvPr/>
        </p:nvSpPr>
        <p:spPr>
          <a:xfrm xmlns:a="http://schemas.openxmlformats.org/drawingml/2006/main">
            <a:off x="733425" y="42957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172A3A"/>
                </a:solidFill>
                <a:latin typeface="Arial"/>
                <a:ea typeface="Arial"/>
                <a:cs typeface="Arial"/>
              </a:defRPr>
            </a:pPr>
            <a:r>
              <a:rPr sz="1725" b="1">
                <a:solidFill>
                  <a:srgbClr val="172A3A"/>
                </a:solidFill>
                <a:latin typeface="Arial"/>
                <a:ea typeface="Arial"/>
                <a:cs typeface="Arial"/>
              </a:rPr>
              <a:t>Baby Thabiso Njabulo Manqele  |  202401734</a:t>
            </a:r>
          </a:p>
        </p:txBody>
      </p:sp>
      <p:sp>
        <p:nvSpPr>
          <p:cNvPr id="5" name="">
            <a:extLst xmlns:a="http://schemas.openxmlformats.org/drawingml/2006/main">
              <a:ext uri="{FF2B5EF4-FFF2-40B4-BE49-F238E27FC236}">
                <a16:creationId xmlns:a16="http://schemas.microsoft.com/office/drawing/2014/main" id="{A523F9DD-5986-482D-912B-5D3E82E10041}"/>
              </a:ext>
            </a:extLst>
          </p:cNvPr>
          <p:cNvSpPr>
            <a:spLocks xmlns:a="http://schemas.openxmlformats.org/drawingml/2006/main" noGrp="1"/>
          </p:cNvSpPr>
          <p:nvPr/>
        </p:nvSpPr>
        <p:spPr>
          <a:xfrm xmlns:a="http://schemas.openxmlformats.org/drawingml/2006/main">
            <a:off x="733425" y="48006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075E63"/>
                </a:solidFill>
                <a:latin typeface="Arial"/>
                <a:ea typeface="Arial"/>
                <a:cs typeface="Arial"/>
              </a:defRPr>
            </a:pPr>
            <a:r>
              <a:rPr sz="1350" b="0">
                <a:solidFill>
                  <a:srgbClr val="075E63"/>
                </a:solidFill>
                <a:latin typeface="Arial"/>
                <a:ea typeface="Arial"/>
                <a:cs typeface="Arial"/>
              </a:rPr>
              <a:t>Core talk: about 4 minutes  |  Appendix: code map and 25 lecturer questions</a:t>
            </a:r>
          </a:p>
        </p:txBody>
      </p:sp>
    </p:spTree>
    <p:extLst>
      <p:ext uri="{BB962C8B-B14F-4D97-AF65-F5344CB8AC3E}">
        <p14:creationId xmlns:p14="http://schemas.microsoft.com/office/powerpoint/2010/main" val="1362086572"/>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9D69FB-526F-4D39-A2BB-9040287F7272}"/>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What a student can do</a:t>
            </a:r>
          </a:p>
        </p:txBody>
      </p:sp>
      <p:sp>
        <p:nvSpPr>
          <p:cNvPr id="2" name="">
            <a:extLst xmlns:a="http://schemas.openxmlformats.org/drawingml/2006/main">
              <a:ext uri="{FF2B5EF4-FFF2-40B4-BE49-F238E27FC236}">
                <a16:creationId xmlns:a16="http://schemas.microsoft.com/office/drawing/2014/main" id="{396FE572-A750-4338-A368-E97983719847}"/>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The discovery page turns housing records into choices a student can inspect.</a:t>
            </a:r>
          </a:p>
        </p:txBody>
      </p:sp>
      <p:sp>
        <p:nvSpPr>
          <p:cNvPr id="3" name="">
            <a:extLst xmlns:a="http://schemas.openxmlformats.org/drawingml/2006/main">
              <a:ext uri="{FF2B5EF4-FFF2-40B4-BE49-F238E27FC236}">
                <a16:creationId xmlns:a16="http://schemas.microsoft.com/office/drawing/2014/main" id="{24C55B8A-05A4-4F09-B235-C293129471BF}"/>
              </a:ext>
            </a:extLst>
          </p:cNvPr>
          <p:cNvSpPr>
            <a:spLocks xmlns:a="http://schemas.openxmlformats.org/drawingml/2006/main" noGrp="1"/>
          </p:cNvSpPr>
          <p:nvPr/>
        </p:nvSpPr>
        <p:spPr>
          <a:xfrm xmlns:a="http://schemas.openxmlformats.org/drawingml/2006/main">
            <a:off x="742950" y="165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75E63"/>
                </a:solidFill>
                <a:latin typeface="Arial"/>
                <a:ea typeface="Arial"/>
                <a:cs typeface="Arial"/>
              </a:defRPr>
            </a:pPr>
            <a:r>
              <a:rPr sz="1875" b="1">
                <a:solidFill>
                  <a:srgbClr val="075E63"/>
                </a:solidFill>
                <a:latin typeface="Arial"/>
                <a:ea typeface="Arial"/>
                <a:cs typeface="Arial"/>
              </a:rPr>
              <a:t>Search</a:t>
            </a:r>
          </a:p>
        </p:txBody>
      </p:sp>
      <p:sp>
        <p:nvSpPr>
          <p:cNvPr id="4" name="">
            <a:extLst xmlns:a="http://schemas.openxmlformats.org/drawingml/2006/main">
              <a:ext uri="{FF2B5EF4-FFF2-40B4-BE49-F238E27FC236}">
                <a16:creationId xmlns:a16="http://schemas.microsoft.com/office/drawing/2014/main" id="{7B99EAAC-A731-4491-87D9-3D52469FCFF7}"/>
              </a:ext>
            </a:extLst>
          </p:cNvPr>
          <p:cNvSpPr>
            <a:spLocks xmlns:a="http://schemas.openxmlformats.org/drawingml/2006/main" noGrp="1"/>
          </p:cNvSpPr>
          <p:nvPr/>
        </p:nvSpPr>
        <p:spPr>
          <a:xfrm xmlns:a="http://schemas.openxmlformats.org/drawingml/2006/main">
            <a:off x="742950" y="20764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0">
                <a:solidFill>
                  <a:srgbClr val="172A3A"/>
                </a:solidFill>
                <a:latin typeface="Arial"/>
                <a:ea typeface="Arial"/>
                <a:cs typeface="Arial"/>
              </a:defRPr>
            </a:pPr>
            <a:r>
              <a:rPr sz="1650" b="0">
                <a:solidFill>
                  <a:srgbClr val="172A3A"/>
                </a:solidFill>
                <a:latin typeface="Arial"/>
                <a:ea typeface="Arial"/>
                <a:cs typeface="Arial"/>
              </a:rPr>
              <a:t>Search by property, address, campus or university. Select a property type, set a maximum monthly price, and choose a sort order.</a:t>
            </a:r>
          </a:p>
        </p:txBody>
      </p:sp>
      <p:sp>
        <p:nvSpPr>
          <p:cNvPr id="5" name="">
            <a:extLst xmlns:a="http://schemas.openxmlformats.org/drawingml/2006/main">
              <a:ext uri="{FF2B5EF4-FFF2-40B4-BE49-F238E27FC236}">
                <a16:creationId xmlns:a16="http://schemas.microsoft.com/office/drawing/2014/main" id="{77B53A81-EB84-4094-9F8A-8EC0595BFA96}"/>
              </a:ext>
            </a:extLst>
          </p:cNvPr>
          <p:cNvSpPr>
            <a:spLocks xmlns:a="http://schemas.openxmlformats.org/drawingml/2006/main" noGrp="1"/>
          </p:cNvSpPr>
          <p:nvPr/>
        </p:nvSpPr>
        <p:spPr>
          <a:xfrm xmlns:a="http://schemas.openxmlformats.org/drawingml/2006/main">
            <a:off x="6362700" y="165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75E63"/>
                </a:solidFill>
                <a:latin typeface="Arial"/>
                <a:ea typeface="Arial"/>
                <a:cs typeface="Arial"/>
              </a:defRPr>
            </a:pPr>
            <a:r>
              <a:rPr sz="1875" b="1">
                <a:solidFill>
                  <a:srgbClr val="075E63"/>
                </a:solidFill>
                <a:latin typeface="Arial"/>
                <a:ea typeface="Arial"/>
                <a:cs typeface="Arial"/>
              </a:rPr>
              <a:t>Compare</a:t>
            </a:r>
          </a:p>
        </p:txBody>
      </p:sp>
      <p:sp>
        <p:nvSpPr>
          <p:cNvPr id="6" name="">
            <a:extLst xmlns:a="http://schemas.openxmlformats.org/drawingml/2006/main">
              <a:ext uri="{FF2B5EF4-FFF2-40B4-BE49-F238E27FC236}">
                <a16:creationId xmlns:a16="http://schemas.microsoft.com/office/drawing/2014/main" id="{178B3310-8860-4E9C-B750-C49AD6FD7120}"/>
              </a:ext>
            </a:extLst>
          </p:cNvPr>
          <p:cNvSpPr>
            <a:spLocks xmlns:a="http://schemas.openxmlformats.org/drawingml/2006/main" noGrp="1"/>
          </p:cNvSpPr>
          <p:nvPr/>
        </p:nvSpPr>
        <p:spPr>
          <a:xfrm xmlns:a="http://schemas.openxmlformats.org/drawingml/2006/main">
            <a:off x="6362700" y="20764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0">
                <a:solidFill>
                  <a:srgbClr val="172A3A"/>
                </a:solidFill>
                <a:latin typeface="Arial"/>
                <a:ea typeface="Arial"/>
                <a:cs typeface="Arial"/>
              </a:defRPr>
            </a:pPr>
            <a:r>
              <a:rPr sz="1650" b="0">
                <a:solidFill>
                  <a:srgbClr val="172A3A"/>
                </a:solidFill>
                <a:latin typeface="Arial"/>
                <a:ea typeface="Arial"/>
                <a:cs typeface="Arial"/>
              </a:rPr>
              <a:t>Review price, distance, rooms, beds, amenities and rating. Save a property, compare up to three, or open the detail page.</a:t>
            </a:r>
          </a:p>
        </p:txBody>
      </p:sp>
      <p:sp>
        <p:nvSpPr>
          <p:cNvPr id="7" name="">
            <a:extLst xmlns:a="http://schemas.openxmlformats.org/drawingml/2006/main">
              <a:ext uri="{FF2B5EF4-FFF2-40B4-BE49-F238E27FC236}">
                <a16:creationId xmlns:a16="http://schemas.microsoft.com/office/drawing/2014/main" id="{B6F0A455-B150-4A25-A62D-868DFC3AA9E7}"/>
              </a:ext>
            </a:extLst>
          </p:cNvPr>
          <p:cNvSpPr>
            <a:spLocks xmlns:a="http://schemas.openxmlformats.org/drawingml/2006/main" noGrp="1"/>
          </p:cNvSpPr>
          <p:nvPr/>
        </p:nvSpPr>
        <p:spPr>
          <a:xfrm xmlns:a="http://schemas.openxmlformats.org/drawingml/2006/main">
            <a:off x="742950" y="38576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172A3A"/>
                </a:solidFill>
                <a:latin typeface="Arial"/>
                <a:ea typeface="Arial"/>
                <a:cs typeface="Arial"/>
              </a:defRPr>
            </a:pPr>
            <a:r>
              <a:rPr sz="1725" b="1">
                <a:solidFill>
                  <a:srgbClr val="172A3A"/>
                </a:solidFill>
                <a:latin typeface="Arial"/>
                <a:ea typeface="Arial"/>
                <a:cs typeface="Arial"/>
              </a:rPr>
              <a:t>One useful code distinction</a:t>
            </a:r>
          </a:p>
        </p:txBody>
      </p:sp>
      <p:sp>
        <p:nvSpPr>
          <p:cNvPr id="8" name="">
            <a:extLst xmlns:a="http://schemas.openxmlformats.org/drawingml/2006/main">
              <a:ext uri="{FF2B5EF4-FFF2-40B4-BE49-F238E27FC236}">
                <a16:creationId xmlns:a16="http://schemas.microsoft.com/office/drawing/2014/main" id="{6604FA15-D54B-4B90-9ED5-AD08BD1E67BB}"/>
              </a:ext>
            </a:extLst>
          </p:cNvPr>
          <p:cNvSpPr>
            <a:spLocks xmlns:a="http://schemas.openxmlformats.org/drawingml/2006/main" noGrp="1"/>
          </p:cNvSpPr>
          <p:nvPr/>
        </p:nvSpPr>
        <p:spPr>
          <a:xfrm xmlns:a="http://schemas.openxmlformats.org/drawingml/2006/main">
            <a:off x="742950" y="4276725"/>
            <a:ext cx="1028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474"/>
                </a:solidFill>
                <a:latin typeface="Arial"/>
                <a:ea typeface="Arial"/>
                <a:cs typeface="Arial"/>
              </a:defRPr>
            </a:pPr>
            <a:r>
              <a:rPr sz="1575" b="0">
                <a:solidFill>
                  <a:srgbClr val="526474"/>
                </a:solidFill>
                <a:latin typeface="Arial"/>
                <a:ea typeface="Arial"/>
                <a:cs typeface="Arial"/>
              </a:rPr>
              <a:t>Typing search text waits for form submission. Changing sort, type or maximum price reloads results through the page effect.</a:t>
            </a:r>
          </a:p>
        </p:txBody>
      </p:sp>
      <p:sp>
        <p:nvSpPr>
          <p:cNvPr id="9" name="">
            <a:extLst xmlns:a="http://schemas.openxmlformats.org/drawingml/2006/main">
              <a:ext uri="{FF2B5EF4-FFF2-40B4-BE49-F238E27FC236}">
                <a16:creationId xmlns:a16="http://schemas.microsoft.com/office/drawing/2014/main" id="{901D6D59-2E18-4582-B86C-2FFA321D4E19}"/>
              </a:ext>
            </a:extLst>
          </p:cNvPr>
          <p:cNvSpPr>
            <a:spLocks xmlns:a="http://schemas.openxmlformats.org/drawingml/2006/main" noGrp="1"/>
          </p:cNvSpPr>
          <p:nvPr/>
        </p:nvSpPr>
        <p:spPr>
          <a:xfrm xmlns:a="http://schemas.openxmlformats.org/drawingml/2006/main">
            <a:off x="685800" y="64389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526474"/>
                </a:solidFill>
                <a:latin typeface="Arial"/>
                <a:ea typeface="Arial"/>
                <a:cs typeface="Arial"/>
              </a:defRPr>
            </a:pPr>
            <a:r>
              <a:rPr sz="1050" b="0">
                <a:solidFill>
                  <a:srgbClr val="526474"/>
                </a:solidFill>
                <a:latin typeface="Arial"/>
                <a:ea typeface="Arial"/>
                <a:cs typeface="Arial"/>
              </a:rPr>
              <a:t>Code: frontend/src/pages/accommodation/Discovery.tsx:17-140, 418-558</a:t>
            </a:r>
          </a:p>
        </p:txBody>
      </p:sp>
    </p:spTree>
    <p:extLst>
      <p:ext uri="{BB962C8B-B14F-4D97-AF65-F5344CB8AC3E}">
        <p14:creationId xmlns:p14="http://schemas.microsoft.com/office/powerpoint/2010/main" val="515296342"/>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E0F37A-5E40-44D2-84FB-6FA943C454F7}"/>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One search through the code</a:t>
            </a:r>
          </a:p>
        </p:txBody>
      </p:sp>
      <p:sp>
        <p:nvSpPr>
          <p:cNvPr id="2" name="">
            <a:extLst xmlns:a="http://schemas.openxmlformats.org/drawingml/2006/main">
              <a:ext uri="{FF2B5EF4-FFF2-40B4-BE49-F238E27FC236}">
                <a16:creationId xmlns:a16="http://schemas.microsoft.com/office/drawing/2014/main" id="{93333CE2-3854-4FED-AD36-118BC99EAA03}"/>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Follow the request in the same order the data travels.</a:t>
            </a:r>
          </a:p>
        </p:txBody>
      </p:sp>
      <p:sp>
        <p:nvSpPr>
          <p:cNvPr id="3" name="">
            <a:extLst xmlns:a="http://schemas.openxmlformats.org/drawingml/2006/main">
              <a:ext uri="{FF2B5EF4-FFF2-40B4-BE49-F238E27FC236}">
                <a16:creationId xmlns:a16="http://schemas.microsoft.com/office/drawing/2014/main" id="{249F528D-5084-4888-970A-419D360ECE1F}"/>
              </a:ext>
            </a:extLst>
          </p:cNvPr>
          <p:cNvSpPr>
            <a:spLocks xmlns:a="http://schemas.openxmlformats.org/drawingml/2006/main" noGrp="1"/>
          </p:cNvSpPr>
          <p:nvPr/>
        </p:nvSpPr>
        <p:spPr>
          <a:xfrm xmlns:a="http://schemas.openxmlformats.org/drawingml/2006/main">
            <a:off x="742950" y="14763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5E63"/>
                </a:solidFill>
                <a:latin typeface="Arial"/>
                <a:ea typeface="Arial"/>
                <a:cs typeface="Arial"/>
              </a:defRPr>
            </a:pPr>
            <a:r>
              <a:rPr sz="1800" b="1">
                <a:solidFill>
                  <a:srgbClr val="075E63"/>
                </a:solidFill>
                <a:latin typeface="Arial"/>
                <a:ea typeface="Arial"/>
                <a:cs typeface="Arial"/>
              </a:rPr>
              <a:t>Discovery page  &gt;  API helper  &gt;  Django list view  &gt;  serializer  &gt;  property cards</a:t>
            </a:r>
          </a:p>
        </p:txBody>
      </p:sp>
      <p:sp>
        <p:nvSpPr>
          <p:cNvPr id="4" name="">
            <a:extLst xmlns:a="http://schemas.openxmlformats.org/drawingml/2006/main">
              <a:ext uri="{FF2B5EF4-FFF2-40B4-BE49-F238E27FC236}">
                <a16:creationId xmlns:a16="http://schemas.microsoft.com/office/drawing/2014/main" id="{135D7556-CB95-4F5C-818A-2AC32D30E04D}"/>
              </a:ext>
            </a:extLst>
          </p:cNvPr>
          <p:cNvSpPr>
            <a:spLocks xmlns:a="http://schemas.openxmlformats.org/drawingml/2006/main" noGrp="1"/>
          </p:cNvSpPr>
          <p:nvPr/>
        </p:nvSpPr>
        <p:spPr>
          <a:xfrm xmlns:a="http://schemas.openxmlformats.org/drawingml/2006/main">
            <a:off x="971550" y="2333625"/>
            <a:ext cx="4857750" cy="1724025"/>
          </a:xfrm>
          <a:prstGeom xmlns:a="http://schemas.openxmlformats.org/drawingml/2006/main" prst="rect">
            <a:avLst/>
          </a:prstGeom>
          <a:solidFill xmlns:a="http://schemas.openxmlformats.org/drawingml/2006/main">
            <a:srgbClr val="EEF2F3"/>
          </a:solidFill>
          <a:ln xmlns:a="http://schemas.openxmlformats.org/drawingml/2006/main" w="0">
            <a:noFill/>
          </a:ln>
        </p:spPr>
        <p:txBody>
          <a:bodyPr xmlns:a="http://schemas.openxmlformats.org/drawingml/2006/main" wrap="square" lIns="171450" tIns="133350" rIns="171450" bIns="133350" anchor="t">
            <a:normAutofit fontScale="100000"/>
          </a:bodyPr>
          <a:lstStyle xmlns:a="http://schemas.openxmlformats.org/drawingml/2006/main"/>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const result = await getProperties(</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search, sort, propertyType, maxPrice</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setProperties(result.properties);</a:t>
            </a:r>
          </a:p>
        </p:txBody>
      </p:sp>
      <p:sp>
        <p:nvSpPr>
          <p:cNvPr id="5" name="">
            <a:extLst xmlns:a="http://schemas.openxmlformats.org/drawingml/2006/main">
              <a:ext uri="{FF2B5EF4-FFF2-40B4-BE49-F238E27FC236}">
                <a16:creationId xmlns:a16="http://schemas.microsoft.com/office/drawing/2014/main" id="{6B627130-9AEA-4088-8B7D-6F76C76B5631}"/>
              </a:ext>
            </a:extLst>
          </p:cNvPr>
          <p:cNvSpPr>
            <a:spLocks xmlns:a="http://schemas.openxmlformats.org/drawingml/2006/main" noGrp="1"/>
          </p:cNvSpPr>
          <p:nvPr/>
        </p:nvSpPr>
        <p:spPr>
          <a:xfrm xmlns:a="http://schemas.openxmlformats.org/drawingml/2006/main">
            <a:off x="971550" y="412432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26474"/>
                </a:solidFill>
                <a:latin typeface="Arial"/>
                <a:ea typeface="Arial"/>
                <a:cs typeface="Arial"/>
              </a:defRPr>
            </a:pPr>
            <a:r>
              <a:rPr sz="1125" b="0">
                <a:solidFill>
                  <a:srgbClr val="526474"/>
                </a:solidFill>
                <a:latin typeface="Arial"/>
                <a:ea typeface="Arial"/>
                <a:cs typeface="Arial"/>
              </a:rPr>
              <a:t>Discovery.tsx:59-90, especially 66-75</a:t>
            </a:r>
          </a:p>
        </p:txBody>
      </p:sp>
      <p:sp>
        <p:nvSpPr>
          <p:cNvPr id="6" name="">
            <a:extLst xmlns:a="http://schemas.openxmlformats.org/drawingml/2006/main">
              <a:ext uri="{FF2B5EF4-FFF2-40B4-BE49-F238E27FC236}">
                <a16:creationId xmlns:a16="http://schemas.microsoft.com/office/drawing/2014/main" id="{EE39BE17-E51E-46EA-980B-FFE14CBC51F2}"/>
              </a:ext>
            </a:extLst>
          </p:cNvPr>
          <p:cNvSpPr>
            <a:spLocks xmlns:a="http://schemas.openxmlformats.org/drawingml/2006/main" noGrp="1"/>
          </p:cNvSpPr>
          <p:nvPr/>
        </p:nvSpPr>
        <p:spPr>
          <a:xfrm xmlns:a="http://schemas.openxmlformats.org/drawingml/2006/main">
            <a:off x="6324600" y="2333625"/>
            <a:ext cx="4857750" cy="1724025"/>
          </a:xfrm>
          <a:prstGeom xmlns:a="http://schemas.openxmlformats.org/drawingml/2006/main" prst="rect">
            <a:avLst/>
          </a:prstGeom>
          <a:solidFill xmlns:a="http://schemas.openxmlformats.org/drawingml/2006/main">
            <a:srgbClr val="EEF2F3"/>
          </a:solidFill>
          <a:ln xmlns:a="http://schemas.openxmlformats.org/drawingml/2006/main" w="0">
            <a:noFill/>
          </a:ln>
        </p:spPr>
        <p:txBody>
          <a:bodyPr xmlns:a="http://schemas.openxmlformats.org/drawingml/2006/main" wrap="square" lIns="171450" tIns="133350" rIns="171450" bIns="133350" anchor="t">
            <a:normAutofit fontScale="100000"/>
          </a:bodyPr>
          <a:lstStyle xmlns:a="http://schemas.openxmlformats.org/drawingml/2006/main"/>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const params = new URLSearchParams();</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if (search) {</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params.append("search", search);</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93FD04A7-6CDC-4F2B-BDDF-D1F4B3ED5E2C}"/>
              </a:ext>
            </a:extLst>
          </p:cNvPr>
          <p:cNvSpPr>
            <a:spLocks xmlns:a="http://schemas.openxmlformats.org/drawingml/2006/main" noGrp="1"/>
          </p:cNvSpPr>
          <p:nvPr/>
        </p:nvSpPr>
        <p:spPr>
          <a:xfrm xmlns:a="http://schemas.openxmlformats.org/drawingml/2006/main">
            <a:off x="6324600" y="412432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26474"/>
                </a:solidFill>
                <a:latin typeface="Arial"/>
                <a:ea typeface="Arial"/>
                <a:cs typeface="Arial"/>
              </a:defRPr>
            </a:pPr>
            <a:r>
              <a:rPr sz="1125" b="0">
                <a:solidFill>
                  <a:srgbClr val="526474"/>
                </a:solidFill>
                <a:latin typeface="Arial"/>
                <a:ea typeface="Arial"/>
                <a:cs typeface="Arial"/>
              </a:rPr>
              <a:t>services/api.ts:1310-1314; fetch and response:1335-1348</a:t>
            </a:r>
          </a:p>
        </p:txBody>
      </p:sp>
      <p:sp>
        <p:nvSpPr>
          <p:cNvPr id="8" name="">
            <a:extLst xmlns:a="http://schemas.openxmlformats.org/drawingml/2006/main">
              <a:ext uri="{FF2B5EF4-FFF2-40B4-BE49-F238E27FC236}">
                <a16:creationId xmlns:a16="http://schemas.microsoft.com/office/drawing/2014/main" id="{F77436F9-46A0-4B07-AB0D-805593145218}"/>
              </a:ext>
            </a:extLst>
          </p:cNvPr>
          <p:cNvSpPr>
            <a:spLocks xmlns:a="http://schemas.openxmlformats.org/drawingml/2006/main" noGrp="1"/>
          </p:cNvSpPr>
          <p:nvPr/>
        </p:nvSpPr>
        <p:spPr>
          <a:xfrm xmlns:a="http://schemas.openxmlformats.org/drawingml/2006/main">
            <a:off x="971550" y="4543425"/>
            <a:ext cx="1021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474"/>
                </a:solidFill>
                <a:latin typeface="Arial"/>
                <a:ea typeface="Arial"/>
                <a:cs typeface="Arial"/>
              </a:defRPr>
            </a:pPr>
            <a:r>
              <a:rPr sz="1575" b="0">
                <a:solidFill>
                  <a:srgbClr val="526474"/>
                </a:solidFill>
                <a:latin typeface="Arial"/>
                <a:ea typeface="Arial"/>
                <a:cs typeface="Arial"/>
              </a:rPr>
              <a:t>The helper builds the query string, sends GET, parses JSON and throws a useful error for a failed response.</a:t>
            </a:r>
          </a:p>
        </p:txBody>
      </p:sp>
      <p:sp>
        <p:nvSpPr>
          <p:cNvPr id="9" name="">
            <a:extLst xmlns:a="http://schemas.openxmlformats.org/drawingml/2006/main">
              <a:ext uri="{FF2B5EF4-FFF2-40B4-BE49-F238E27FC236}">
                <a16:creationId xmlns:a16="http://schemas.microsoft.com/office/drawing/2014/main" id="{328E0C9F-53D0-4946-AB89-869E66881A38}"/>
              </a:ext>
            </a:extLst>
          </p:cNvPr>
          <p:cNvSpPr>
            <a:spLocks xmlns:a="http://schemas.openxmlformats.org/drawingml/2006/main" noGrp="1"/>
          </p:cNvSpPr>
          <p:nvPr/>
        </p:nvSpPr>
        <p:spPr>
          <a:xfrm xmlns:a="http://schemas.openxmlformats.org/drawingml/2006/main">
            <a:off x="685800" y="64389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526474"/>
                </a:solidFill>
                <a:latin typeface="Arial"/>
                <a:ea typeface="Arial"/>
                <a:cs typeface="Arial"/>
              </a:defRPr>
            </a:pPr>
            <a:r>
              <a:rPr sz="1050" b="0">
                <a:solidFill>
                  <a:srgbClr val="526474"/>
                </a:solidFill>
                <a:latin typeface="Arial"/>
                <a:ea typeface="Arial"/>
                <a:cs typeface="Arial"/>
              </a:rPr>
              <a:t>Endpoint: GET /accommodations/properties/  |  No direct database access from React</a:t>
            </a:r>
          </a:p>
        </p:txBody>
      </p:sp>
    </p:spTree>
    <p:extLst>
      <p:ext uri="{BB962C8B-B14F-4D97-AF65-F5344CB8AC3E}">
        <p14:creationId xmlns:p14="http://schemas.microsoft.com/office/powerpoint/2010/main" val="945727215"/>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297221-170F-43FC-B9D2-2C7236AE7D2E}"/>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The backend filters before it responds</a:t>
            </a:r>
          </a:p>
        </p:txBody>
      </p:sp>
      <p:sp>
        <p:nvSpPr>
          <p:cNvPr id="2" name="">
            <a:extLst xmlns:a="http://schemas.openxmlformats.org/drawingml/2006/main">
              <a:ext uri="{FF2B5EF4-FFF2-40B4-BE49-F238E27FC236}">
                <a16:creationId xmlns:a16="http://schemas.microsoft.com/office/drawing/2014/main" id="{8266D935-2FFA-4608-8678-0743C5CC3A6A}"/>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Public search returns reviewed listings and a compact student-facing response.</a:t>
            </a:r>
          </a:p>
        </p:txBody>
      </p:sp>
      <p:sp>
        <p:nvSpPr>
          <p:cNvPr id="3" name="">
            <a:extLst xmlns:a="http://schemas.openxmlformats.org/drawingml/2006/main">
              <a:ext uri="{FF2B5EF4-FFF2-40B4-BE49-F238E27FC236}">
                <a16:creationId xmlns:a16="http://schemas.microsoft.com/office/drawing/2014/main" id="{E6C5C78B-BEB0-4906-96B3-9E13248D8E4D}"/>
              </a:ext>
            </a:extLst>
          </p:cNvPr>
          <p:cNvSpPr>
            <a:spLocks xmlns:a="http://schemas.openxmlformats.org/drawingml/2006/main" noGrp="1"/>
          </p:cNvSpPr>
          <p:nvPr/>
        </p:nvSpPr>
        <p:spPr>
          <a:xfrm xmlns:a="http://schemas.openxmlformats.org/drawingml/2006/main">
            <a:off x="742950" y="1533525"/>
            <a:ext cx="5381625" cy="2381250"/>
          </a:xfrm>
          <a:prstGeom xmlns:a="http://schemas.openxmlformats.org/drawingml/2006/main" prst="rect">
            <a:avLst/>
          </a:prstGeom>
          <a:solidFill xmlns:a="http://schemas.openxmlformats.org/drawingml/2006/main">
            <a:srgbClr val="EEF2F3"/>
          </a:solidFill>
          <a:ln xmlns:a="http://schemas.openxmlformats.org/drawingml/2006/main" w="0">
            <a:noFill/>
          </a:ln>
        </p:spPr>
        <p:txBody>
          <a:bodyPr xmlns:a="http://schemas.openxmlformats.org/drawingml/2006/main" wrap="square" lIns="171450" tIns="133350" rIns="171450" bIns="133350" anchor="t">
            <a:normAutofit fontScale="100000"/>
          </a:bodyPr>
          <a:lstStyle xmlns:a="http://schemas.openxmlformats.org/drawingml/2006/main"/>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properties = (</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_hide_demo_properties(Property.objects)</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.filter(status="APPROVED")</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.select_related("campus", "campus__university")</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.prefetch_related(</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"amenities", "images",</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"buildings__floors__rooms__beds",</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7F5031AC-1A3E-472C-B6A5-73F069A7A3DD}"/>
              </a:ext>
            </a:extLst>
          </p:cNvPr>
          <p:cNvSpPr>
            <a:spLocks xmlns:a="http://schemas.openxmlformats.org/drawingml/2006/main" noGrp="1"/>
          </p:cNvSpPr>
          <p:nvPr/>
        </p:nvSpPr>
        <p:spPr>
          <a:xfrm xmlns:a="http://schemas.openxmlformats.org/drawingml/2006/main">
            <a:off x="742950" y="3981450"/>
            <a:ext cx="538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26474"/>
                </a:solidFill>
                <a:latin typeface="Arial"/>
                <a:ea typeface="Arial"/>
                <a:cs typeface="Arial"/>
              </a:defRPr>
            </a:pPr>
            <a:r>
              <a:rPr sz="1125" b="0">
                <a:solidFill>
                  <a:srgbClr val="526474"/>
                </a:solidFill>
                <a:latin typeface="Arial"/>
                <a:ea typeface="Arial"/>
                <a:cs typeface="Arial"/>
              </a:rPr>
              <a:t>accommodations/views.py:62-80</a:t>
            </a:r>
          </a:p>
        </p:txBody>
      </p:sp>
      <p:sp>
        <p:nvSpPr>
          <p:cNvPr id="5" name="">
            <a:extLst xmlns:a="http://schemas.openxmlformats.org/drawingml/2006/main">
              <a:ext uri="{FF2B5EF4-FFF2-40B4-BE49-F238E27FC236}">
                <a16:creationId xmlns:a16="http://schemas.microsoft.com/office/drawing/2014/main" id="{3A2DD3ED-5B90-4E6E-99F0-6BE6A36245F3}"/>
              </a:ext>
            </a:extLst>
          </p:cNvPr>
          <p:cNvSpPr>
            <a:spLocks xmlns:a="http://schemas.openxmlformats.org/drawingml/2006/main" noGrp="1"/>
          </p:cNvSpPr>
          <p:nvPr/>
        </p:nvSpPr>
        <p:spPr>
          <a:xfrm xmlns:a="http://schemas.openxmlformats.org/drawingml/2006/main">
            <a:off x="6572250" y="1638300"/>
            <a:ext cx="1095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87E83"/>
                </a:solidFill>
                <a:latin typeface="Arial"/>
                <a:ea typeface="Arial"/>
                <a:cs typeface="Arial"/>
              </a:defRPr>
            </a:pPr>
            <a:r>
              <a:rPr sz="1500" b="1">
                <a:solidFill>
                  <a:srgbClr val="087E83"/>
                </a:solidFill>
                <a:latin typeface="Arial"/>
                <a:ea typeface="Arial"/>
                <a:cs typeface="Arial"/>
              </a:rPr>
              <a:t>Then</a:t>
            </a:r>
          </a:p>
        </p:txBody>
      </p:sp>
      <p:sp>
        <p:nvSpPr>
          <p:cNvPr id="6" name="">
            <a:extLst xmlns:a="http://schemas.openxmlformats.org/drawingml/2006/main">
              <a:ext uri="{FF2B5EF4-FFF2-40B4-BE49-F238E27FC236}">
                <a16:creationId xmlns:a16="http://schemas.microsoft.com/office/drawing/2014/main" id="{205CDE89-DFA9-4143-B482-4A78F36F4DD8}"/>
              </a:ext>
            </a:extLst>
          </p:cNvPr>
          <p:cNvSpPr>
            <a:spLocks xmlns:a="http://schemas.openxmlformats.org/drawingml/2006/main" noGrp="1"/>
          </p:cNvSpPr>
          <p:nvPr/>
        </p:nvSpPr>
        <p:spPr>
          <a:xfrm xmlns:a="http://schemas.openxmlformats.org/drawingml/2006/main">
            <a:off x="6572250" y="2047875"/>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72A3A"/>
                </a:solidFill>
                <a:latin typeface="Arial"/>
                <a:ea typeface="Arial"/>
                <a:cs typeface="Arial"/>
              </a:defRPr>
            </a:pPr>
            <a:r>
              <a:rPr sz="1575" b="0">
                <a:solidFill>
                  <a:srgbClr val="172A3A"/>
                </a:solidFill>
                <a:latin typeface="Arial"/>
                <a:ea typeface="Arial"/>
                <a:cs typeface="Arial"/>
              </a:rPr>
              <a:t>Search fields</a:t>
            </a:r>
          </a:p>
          <a:p xmlns:a="http://schemas.openxmlformats.org/drawingml/2006/main">
            <a:pPr algn="l">
              <a:lnSpc>
                <a:spcPct val="108000"/>
              </a:lnSpc>
              <a:buNone/>
              <a:defRPr sz="1575" b="0">
                <a:solidFill>
                  <a:srgbClr val="172A3A"/>
                </a:solidFill>
                <a:latin typeface="Arial"/>
                <a:ea typeface="Arial"/>
                <a:cs typeface="Arial"/>
              </a:defRPr>
            </a:pPr>
            <a:r>
              <a:rPr sz="1575" b="0">
                <a:solidFill>
                  <a:srgbClr val="172A3A"/>
                </a:solidFill>
                <a:latin typeface="Arial"/>
                <a:ea typeface="Arial"/>
                <a:cs typeface="Arial"/>
              </a:rPr>
              <a:t>name, address, campus, university</a:t>
            </a:r>
          </a:p>
        </p:txBody>
      </p:sp>
      <p:sp>
        <p:nvSpPr>
          <p:cNvPr id="7" name="">
            <a:extLst xmlns:a="http://schemas.openxmlformats.org/drawingml/2006/main">
              <a:ext uri="{FF2B5EF4-FFF2-40B4-BE49-F238E27FC236}">
                <a16:creationId xmlns:a16="http://schemas.microsoft.com/office/drawing/2014/main" id="{31ACEA7B-472F-4571-A165-468ED3DDCE03}"/>
              </a:ext>
            </a:extLst>
          </p:cNvPr>
          <p:cNvSpPr>
            <a:spLocks xmlns:a="http://schemas.openxmlformats.org/drawingml/2006/main" noGrp="1"/>
          </p:cNvSpPr>
          <p:nvPr/>
        </p:nvSpPr>
        <p:spPr>
          <a:xfrm xmlns:a="http://schemas.openxmlformats.org/drawingml/2006/main">
            <a:off x="6572250" y="289560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72A3A"/>
                </a:solidFill>
                <a:latin typeface="Arial"/>
                <a:ea typeface="Arial"/>
                <a:cs typeface="Arial"/>
              </a:defRPr>
            </a:pPr>
            <a:r>
              <a:rPr sz="1575" b="0">
                <a:solidFill>
                  <a:srgbClr val="172A3A"/>
                </a:solidFill>
                <a:latin typeface="Arial"/>
                <a:ea typeface="Arial"/>
                <a:cs typeface="Arial"/>
              </a:rPr>
              <a:t>Filters and sorting</a:t>
            </a:r>
          </a:p>
          <a:p xmlns:a="http://schemas.openxmlformats.org/drawingml/2006/main">
            <a:pPr algn="l">
              <a:lnSpc>
                <a:spcPct val="108000"/>
              </a:lnSpc>
              <a:buNone/>
              <a:defRPr sz="1575" b="0">
                <a:solidFill>
                  <a:srgbClr val="172A3A"/>
                </a:solidFill>
                <a:latin typeface="Arial"/>
                <a:ea typeface="Arial"/>
                <a:cs typeface="Arial"/>
              </a:defRPr>
            </a:pPr>
            <a:r>
              <a:rPr sz="1575" b="0">
                <a:solidFill>
                  <a:srgbClr val="172A3A"/>
                </a:solidFill>
                <a:latin typeface="Arial"/>
                <a:ea typeface="Arial"/>
                <a:cs typeface="Arial"/>
              </a:rPr>
              <a:t>property type, max price, rating, price, distance</a:t>
            </a:r>
          </a:p>
        </p:txBody>
      </p:sp>
      <p:sp>
        <p:nvSpPr>
          <p:cNvPr id="8" name="">
            <a:extLst xmlns:a="http://schemas.openxmlformats.org/drawingml/2006/main">
              <a:ext uri="{FF2B5EF4-FFF2-40B4-BE49-F238E27FC236}">
                <a16:creationId xmlns:a16="http://schemas.microsoft.com/office/drawing/2014/main" id="{69715231-4F08-409D-8DD9-3CD1DAC2A82D}"/>
              </a:ext>
            </a:extLst>
          </p:cNvPr>
          <p:cNvSpPr>
            <a:spLocks xmlns:a="http://schemas.openxmlformats.org/drawingml/2006/main" noGrp="1"/>
          </p:cNvSpPr>
          <p:nvPr/>
        </p:nvSpPr>
        <p:spPr>
          <a:xfrm xmlns:a="http://schemas.openxmlformats.org/drawingml/2006/main">
            <a:off x="6572250" y="3800475"/>
            <a:ext cx="4476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72A3A"/>
                </a:solidFill>
                <a:latin typeface="Arial"/>
                <a:ea typeface="Arial"/>
                <a:cs typeface="Arial"/>
              </a:defRPr>
            </a:pPr>
            <a:r>
              <a:rPr sz="1575" b="0">
                <a:solidFill>
                  <a:srgbClr val="172A3A"/>
                </a:solidFill>
                <a:latin typeface="Arial"/>
                <a:ea typeface="Arial"/>
                <a:cs typeface="Arial"/>
              </a:rPr>
              <a:t>Response</a:t>
            </a:r>
          </a:p>
          <a:p xmlns:a="http://schemas.openxmlformats.org/drawingml/2006/main">
            <a:pPr algn="l">
              <a:lnSpc>
                <a:spcPct val="108000"/>
              </a:lnSpc>
              <a:buNone/>
              <a:defRPr sz="1575" b="0">
                <a:solidFill>
                  <a:srgbClr val="172A3A"/>
                </a:solidFill>
                <a:latin typeface="Arial"/>
                <a:ea typeface="Arial"/>
                <a:cs typeface="Arial"/>
              </a:defRPr>
            </a:pPr>
            <a:r>
              <a:rPr sz="1575" b="0">
                <a:solidFill>
                  <a:srgbClr val="172A3A"/>
                </a:solidFill>
                <a:latin typeface="Arial"/>
                <a:ea typeface="Arial"/>
                <a:cs typeface="Arial"/>
              </a:rPr>
              <a:t>PropertySerializer creates nested JSON for React</a:t>
            </a:r>
          </a:p>
        </p:txBody>
      </p:sp>
      <p:sp>
        <p:nvSpPr>
          <p:cNvPr id="9" name="">
            <a:extLst xmlns:a="http://schemas.openxmlformats.org/drawingml/2006/main">
              <a:ext uri="{FF2B5EF4-FFF2-40B4-BE49-F238E27FC236}">
                <a16:creationId xmlns:a16="http://schemas.microsoft.com/office/drawing/2014/main" id="{F419E26E-B97D-4BC2-89F9-5A04DA4F602F}"/>
              </a:ext>
            </a:extLst>
          </p:cNvPr>
          <p:cNvSpPr>
            <a:spLocks xmlns:a="http://schemas.openxmlformats.org/drawingml/2006/main" noGrp="1"/>
          </p:cNvSpPr>
          <p:nvPr/>
        </p:nvSpPr>
        <p:spPr>
          <a:xfrm xmlns:a="http://schemas.openxmlformats.org/drawingml/2006/main">
            <a:off x="742950" y="4638675"/>
            <a:ext cx="10429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474"/>
                </a:solidFill>
                <a:latin typeface="Arial"/>
                <a:ea typeface="Arial"/>
                <a:cs typeface="Arial"/>
              </a:defRPr>
            </a:pPr>
            <a:r>
              <a:rPr sz="1575" b="0">
                <a:solidFill>
                  <a:srgbClr val="526474"/>
                </a:solidFill>
                <a:latin typeface="Arial"/>
                <a:ea typeface="Arial"/>
                <a:cs typeface="Arial"/>
              </a:rPr>
              <a:t>The public list view allows browsing, but its base queryset is limited to approved properties.</a:t>
            </a:r>
          </a:p>
        </p:txBody>
      </p:sp>
      <p:sp>
        <p:nvSpPr>
          <p:cNvPr id="10" name="">
            <a:extLst xmlns:a="http://schemas.openxmlformats.org/drawingml/2006/main">
              <a:ext uri="{FF2B5EF4-FFF2-40B4-BE49-F238E27FC236}">
                <a16:creationId xmlns:a16="http://schemas.microsoft.com/office/drawing/2014/main" id="{2A72782B-BD66-4D88-A478-806D41FC00A9}"/>
              </a:ext>
            </a:extLst>
          </p:cNvPr>
          <p:cNvSpPr>
            <a:spLocks xmlns:a="http://schemas.openxmlformats.org/drawingml/2006/main" noGrp="1"/>
          </p:cNvSpPr>
          <p:nvPr/>
        </p:nvSpPr>
        <p:spPr>
          <a:xfrm xmlns:a="http://schemas.openxmlformats.org/drawingml/2006/main">
            <a:off x="685800" y="64389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526474"/>
                </a:solidFill>
                <a:latin typeface="Arial"/>
                <a:ea typeface="Arial"/>
                <a:cs typeface="Arial"/>
              </a:defRPr>
            </a:pPr>
            <a:r>
              <a:rPr sz="1050" b="0">
                <a:solidFill>
                  <a:srgbClr val="526474"/>
                </a:solidFill>
                <a:latin typeface="Arial"/>
                <a:ea typeface="Arial"/>
                <a:cs typeface="Arial"/>
              </a:rPr>
              <a:t>Code: accommodations/views.py:62-187  |  accommodations/serializers.py:123-219</a:t>
            </a:r>
          </a:p>
        </p:txBody>
      </p:sp>
    </p:spTree>
    <p:extLst>
      <p:ext uri="{BB962C8B-B14F-4D97-AF65-F5344CB8AC3E}">
        <p14:creationId xmlns:p14="http://schemas.microsoft.com/office/powerpoint/2010/main" val="1837077142"/>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4E49FCF-5930-41E4-AC98-5E8E1D34136C}"/>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The data follows the building structure</a:t>
            </a:r>
          </a:p>
        </p:txBody>
      </p:sp>
      <p:sp>
        <p:nvSpPr>
          <p:cNvPr id="2" name="">
            <a:extLst xmlns:a="http://schemas.openxmlformats.org/drawingml/2006/main">
              <a:ext uri="{FF2B5EF4-FFF2-40B4-BE49-F238E27FC236}">
                <a16:creationId xmlns:a16="http://schemas.microsoft.com/office/drawing/2014/main" id="{33A413C3-1A61-48EF-B43C-A46D953E06B9}"/>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A property is more than one record: it contains nested spaces and beds.</a:t>
            </a:r>
          </a:p>
        </p:txBody>
      </p:sp>
      <p:sp>
        <p:nvSpPr>
          <p:cNvPr id="3" name="">
            <a:extLst xmlns:a="http://schemas.openxmlformats.org/drawingml/2006/main">
              <a:ext uri="{FF2B5EF4-FFF2-40B4-BE49-F238E27FC236}">
                <a16:creationId xmlns:a16="http://schemas.microsoft.com/office/drawing/2014/main" id="{5C5A597D-A72F-412B-8FCF-05396D644FD6}"/>
              </a:ext>
            </a:extLst>
          </p:cNvPr>
          <p:cNvSpPr>
            <a:spLocks xmlns:a="http://schemas.openxmlformats.org/drawingml/2006/main" noGrp="1"/>
          </p:cNvSpPr>
          <p:nvPr/>
        </p:nvSpPr>
        <p:spPr>
          <a:xfrm xmlns:a="http://schemas.openxmlformats.org/drawingml/2006/main">
            <a:off x="742950" y="1638300"/>
            <a:ext cx="10715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325" b="1">
                <a:solidFill>
                  <a:srgbClr val="075E63"/>
                </a:solidFill>
                <a:latin typeface="Arial"/>
                <a:ea typeface="Arial"/>
                <a:cs typeface="Arial"/>
              </a:defRPr>
            </a:pPr>
            <a:r>
              <a:rPr sz="2325" b="1">
                <a:solidFill>
                  <a:srgbClr val="075E63"/>
                </a:solidFill>
                <a:latin typeface="Arial"/>
                <a:ea typeface="Arial"/>
                <a:cs typeface="Arial"/>
              </a:rPr>
              <a:t>Property   &gt;   Building   &gt;   Floor   &gt;   Room   &gt;   Bed</a:t>
            </a:r>
          </a:p>
        </p:txBody>
      </p:sp>
      <p:sp>
        <p:nvSpPr>
          <p:cNvPr id="4" name="">
            <a:extLst xmlns:a="http://schemas.openxmlformats.org/drawingml/2006/main">
              <a:ext uri="{FF2B5EF4-FFF2-40B4-BE49-F238E27FC236}">
                <a16:creationId xmlns:a16="http://schemas.microsoft.com/office/drawing/2014/main" id="{A034F7BB-324E-4445-90F8-DEBBCC8C7A8A}"/>
              </a:ext>
            </a:extLst>
          </p:cNvPr>
          <p:cNvSpPr>
            <a:spLocks xmlns:a="http://schemas.openxmlformats.org/drawingml/2006/main" noGrp="1"/>
          </p:cNvSpPr>
          <p:nvPr/>
        </p:nvSpPr>
        <p:spPr>
          <a:xfrm xmlns:a="http://schemas.openxmlformats.org/drawingml/2006/main">
            <a:off x="781050" y="268605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172A3A"/>
                </a:solidFill>
                <a:latin typeface="Arial"/>
                <a:ea typeface="Arial"/>
                <a:cs typeface="Arial"/>
              </a:defRPr>
            </a:pPr>
            <a:r>
              <a:rPr sz="1650" b="1">
                <a:solidFill>
                  <a:srgbClr val="172A3A"/>
                </a:solidFill>
                <a:latin typeface="Arial"/>
                <a:ea typeface="Arial"/>
                <a:cs typeface="Arial"/>
              </a:rPr>
              <a:t>Property</a:t>
            </a:r>
          </a:p>
        </p:txBody>
      </p:sp>
      <p:sp>
        <p:nvSpPr>
          <p:cNvPr id="5" name="">
            <a:extLst xmlns:a="http://schemas.openxmlformats.org/drawingml/2006/main">
              <a:ext uri="{FF2B5EF4-FFF2-40B4-BE49-F238E27FC236}">
                <a16:creationId xmlns:a16="http://schemas.microsoft.com/office/drawing/2014/main" id="{7F25F37A-6344-45E0-9AA0-1EF7AB8A8696}"/>
              </a:ext>
            </a:extLst>
          </p:cNvPr>
          <p:cNvSpPr>
            <a:spLocks xmlns:a="http://schemas.openxmlformats.org/drawingml/2006/main" noGrp="1"/>
          </p:cNvSpPr>
          <p:nvPr/>
        </p:nvSpPr>
        <p:spPr>
          <a:xfrm xmlns:a="http://schemas.openxmlformats.org/drawingml/2006/main">
            <a:off x="781050" y="3057525"/>
            <a:ext cx="1952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campus, address, price range, listing status</a:t>
            </a:r>
          </a:p>
        </p:txBody>
      </p:sp>
      <p:sp>
        <p:nvSpPr>
          <p:cNvPr id="6" name="">
            <a:extLst xmlns:a="http://schemas.openxmlformats.org/drawingml/2006/main">
              <a:ext uri="{FF2B5EF4-FFF2-40B4-BE49-F238E27FC236}">
                <a16:creationId xmlns:a16="http://schemas.microsoft.com/office/drawing/2014/main" id="{1986DFBF-2939-4C14-82F2-1E53E1B1134B}"/>
              </a:ext>
            </a:extLst>
          </p:cNvPr>
          <p:cNvSpPr>
            <a:spLocks xmlns:a="http://schemas.openxmlformats.org/drawingml/2006/main" noGrp="1"/>
          </p:cNvSpPr>
          <p:nvPr/>
        </p:nvSpPr>
        <p:spPr>
          <a:xfrm xmlns:a="http://schemas.openxmlformats.org/drawingml/2006/main">
            <a:off x="3048000" y="268605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172A3A"/>
                </a:solidFill>
                <a:latin typeface="Arial"/>
                <a:ea typeface="Arial"/>
                <a:cs typeface="Arial"/>
              </a:defRPr>
            </a:pPr>
            <a:r>
              <a:rPr sz="1650" b="1">
                <a:solidFill>
                  <a:srgbClr val="172A3A"/>
                </a:solidFill>
                <a:latin typeface="Arial"/>
                <a:ea typeface="Arial"/>
                <a:cs typeface="Arial"/>
              </a:rPr>
              <a:t>Room</a:t>
            </a:r>
          </a:p>
        </p:txBody>
      </p:sp>
      <p:sp>
        <p:nvSpPr>
          <p:cNvPr id="7" name="">
            <a:extLst xmlns:a="http://schemas.openxmlformats.org/drawingml/2006/main">
              <a:ext uri="{FF2B5EF4-FFF2-40B4-BE49-F238E27FC236}">
                <a16:creationId xmlns:a16="http://schemas.microsoft.com/office/drawing/2014/main" id="{50CEA5B9-070F-45D5-A4BC-983081FA4188}"/>
              </a:ext>
            </a:extLst>
          </p:cNvPr>
          <p:cNvSpPr>
            <a:spLocks xmlns:a="http://schemas.openxmlformats.org/drawingml/2006/main" noGrp="1"/>
          </p:cNvSpPr>
          <p:nvPr/>
        </p:nvSpPr>
        <p:spPr>
          <a:xfrm xmlns:a="http://schemas.openxmlformats.org/drawingml/2006/main">
            <a:off x="3048000" y="3057525"/>
            <a:ext cx="1952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room type, capacity, monthly price, accessibility, status</a:t>
            </a:r>
          </a:p>
        </p:txBody>
      </p:sp>
      <p:sp>
        <p:nvSpPr>
          <p:cNvPr id="8" name="">
            <a:extLst xmlns:a="http://schemas.openxmlformats.org/drawingml/2006/main">
              <a:ext uri="{FF2B5EF4-FFF2-40B4-BE49-F238E27FC236}">
                <a16:creationId xmlns:a16="http://schemas.microsoft.com/office/drawing/2014/main" id="{30E45F6D-418E-4DA2-AB27-7EFD4429B3FF}"/>
              </a:ext>
            </a:extLst>
          </p:cNvPr>
          <p:cNvSpPr>
            <a:spLocks xmlns:a="http://schemas.openxmlformats.org/drawingml/2006/main" noGrp="1"/>
          </p:cNvSpPr>
          <p:nvPr/>
        </p:nvSpPr>
        <p:spPr>
          <a:xfrm xmlns:a="http://schemas.openxmlformats.org/drawingml/2006/main">
            <a:off x="5334000" y="268605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172A3A"/>
                </a:solidFill>
                <a:latin typeface="Arial"/>
                <a:ea typeface="Arial"/>
                <a:cs typeface="Arial"/>
              </a:defRPr>
            </a:pPr>
            <a:r>
              <a:rPr sz="1650" b="1">
                <a:solidFill>
                  <a:srgbClr val="172A3A"/>
                </a:solidFill>
                <a:latin typeface="Arial"/>
                <a:ea typeface="Arial"/>
                <a:cs typeface="Arial"/>
              </a:rPr>
              <a:t>Bed</a:t>
            </a:r>
          </a:p>
        </p:txBody>
      </p:sp>
      <p:sp>
        <p:nvSpPr>
          <p:cNvPr id="9" name="">
            <a:extLst xmlns:a="http://schemas.openxmlformats.org/drawingml/2006/main">
              <a:ext uri="{FF2B5EF4-FFF2-40B4-BE49-F238E27FC236}">
                <a16:creationId xmlns:a16="http://schemas.microsoft.com/office/drawing/2014/main" id="{81A7A5D8-25C7-4E33-BF41-4B182EEBE7AA}"/>
              </a:ext>
            </a:extLst>
          </p:cNvPr>
          <p:cNvSpPr>
            <a:spLocks xmlns:a="http://schemas.openxmlformats.org/drawingml/2006/main" noGrp="1"/>
          </p:cNvSpPr>
          <p:nvPr/>
        </p:nvSpPr>
        <p:spPr>
          <a:xfrm xmlns:a="http://schemas.openxmlformats.org/drawingml/2006/main">
            <a:off x="5334000" y="3057525"/>
            <a:ext cx="1952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bed number, occupancy status, current student</a:t>
            </a:r>
          </a:p>
        </p:txBody>
      </p:sp>
      <p:sp>
        <p:nvSpPr>
          <p:cNvPr id="10" name="">
            <a:extLst xmlns:a="http://schemas.openxmlformats.org/drawingml/2006/main">
              <a:ext uri="{FF2B5EF4-FFF2-40B4-BE49-F238E27FC236}">
                <a16:creationId xmlns:a16="http://schemas.microsoft.com/office/drawing/2014/main" id="{83E44974-0885-4F32-96BD-CDE4628C868B}"/>
              </a:ext>
            </a:extLst>
          </p:cNvPr>
          <p:cNvSpPr>
            <a:spLocks xmlns:a="http://schemas.openxmlformats.org/drawingml/2006/main" noGrp="1"/>
          </p:cNvSpPr>
          <p:nvPr/>
        </p:nvSpPr>
        <p:spPr>
          <a:xfrm xmlns:a="http://schemas.openxmlformats.org/drawingml/2006/main">
            <a:off x="7877175" y="26860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75E63"/>
                </a:solidFill>
                <a:latin typeface="Arial"/>
                <a:ea typeface="Arial"/>
                <a:cs typeface="Arial"/>
              </a:defRPr>
            </a:pPr>
            <a:r>
              <a:rPr sz="1650" b="1">
                <a:solidFill>
                  <a:srgbClr val="075E63"/>
                </a:solidFill>
                <a:latin typeface="Arial"/>
                <a:ea typeface="Arial"/>
                <a:cs typeface="Arial"/>
              </a:rPr>
              <a:t>Why it matters</a:t>
            </a:r>
          </a:p>
        </p:txBody>
      </p:sp>
      <p:sp>
        <p:nvSpPr>
          <p:cNvPr id="11" name="">
            <a:extLst xmlns:a="http://schemas.openxmlformats.org/drawingml/2006/main">
              <a:ext uri="{FF2B5EF4-FFF2-40B4-BE49-F238E27FC236}">
                <a16:creationId xmlns:a16="http://schemas.microsoft.com/office/drawing/2014/main" id="{FC6EA3DB-5F4C-4E8D-A8A7-2F6E453174FD}"/>
              </a:ext>
            </a:extLst>
          </p:cNvPr>
          <p:cNvSpPr>
            <a:spLocks xmlns:a="http://schemas.openxmlformats.org/drawingml/2006/main" noGrp="1"/>
          </p:cNvSpPr>
          <p:nvPr/>
        </p:nvSpPr>
        <p:spPr>
          <a:xfrm xmlns:a="http://schemas.openxmlformats.org/drawingml/2006/main">
            <a:off x="7877175" y="30575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474"/>
                </a:solidFill>
                <a:latin typeface="Arial"/>
                <a:ea typeface="Arial"/>
                <a:cs typeface="Arial"/>
              </a:defRPr>
            </a:pPr>
            <a:r>
              <a:rPr sz="1425" b="0">
                <a:solidFill>
                  <a:srgbClr val="526474"/>
                </a:solidFill>
                <a:latin typeface="Arial"/>
                <a:ea typeface="Arial"/>
                <a:cs typeface="Arial"/>
              </a:rPr>
              <a:t>The search card can show availability, while the room page can drill down to a specific room and bed.</a:t>
            </a:r>
          </a:p>
        </p:txBody>
      </p:sp>
      <p:sp>
        <p:nvSpPr>
          <p:cNvPr id="12" name="">
            <a:extLst xmlns:a="http://schemas.openxmlformats.org/drawingml/2006/main">
              <a:ext uri="{FF2B5EF4-FFF2-40B4-BE49-F238E27FC236}">
                <a16:creationId xmlns:a16="http://schemas.microsoft.com/office/drawing/2014/main" id="{3E348D1F-CA53-4B93-8A8C-83CE39C0B311}"/>
              </a:ext>
            </a:extLst>
          </p:cNvPr>
          <p:cNvSpPr>
            <a:spLocks xmlns:a="http://schemas.openxmlformats.org/drawingml/2006/main" noGrp="1"/>
          </p:cNvSpPr>
          <p:nvPr/>
        </p:nvSpPr>
        <p:spPr>
          <a:xfrm xmlns:a="http://schemas.openxmlformats.org/drawingml/2006/main">
            <a:off x="781050" y="45053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72A3A"/>
                </a:solidFill>
                <a:latin typeface="Arial"/>
                <a:ea typeface="Arial"/>
                <a:cs typeface="Arial"/>
              </a:defRPr>
            </a:pPr>
            <a:r>
              <a:rPr sz="1500" b="0">
                <a:solidFill>
                  <a:srgbClr val="172A3A"/>
                </a:solidFill>
                <a:latin typeface="Arial"/>
                <a:ea typeface="Arial"/>
                <a:cs typeface="Arial"/>
              </a:rPr>
              <a:t>Room numbers are checked for uniqueness within one property; prices use decimal fields.</a:t>
            </a:r>
          </a:p>
        </p:txBody>
      </p:sp>
      <p:sp>
        <p:nvSpPr>
          <p:cNvPr id="13" name="">
            <a:extLst xmlns:a="http://schemas.openxmlformats.org/drawingml/2006/main">
              <a:ext uri="{FF2B5EF4-FFF2-40B4-BE49-F238E27FC236}">
                <a16:creationId xmlns:a16="http://schemas.microsoft.com/office/drawing/2014/main" id="{71F701CE-AE7B-4996-B27F-85A5F8BA2B35}"/>
              </a:ext>
            </a:extLst>
          </p:cNvPr>
          <p:cNvSpPr>
            <a:spLocks xmlns:a="http://schemas.openxmlformats.org/drawingml/2006/main" noGrp="1"/>
          </p:cNvSpPr>
          <p:nvPr/>
        </p:nvSpPr>
        <p:spPr>
          <a:xfrm xmlns:a="http://schemas.openxmlformats.org/drawingml/2006/main">
            <a:off x="685800" y="64389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526474"/>
                </a:solidFill>
                <a:latin typeface="Arial"/>
                <a:ea typeface="Arial"/>
                <a:cs typeface="Arial"/>
              </a:defRPr>
            </a:pPr>
            <a:r>
              <a:rPr sz="1050" b="0">
                <a:solidFill>
                  <a:srgbClr val="526474"/>
                </a:solidFill>
                <a:latin typeface="Arial"/>
                <a:ea typeface="Arial"/>
                <a:cs typeface="Arial"/>
              </a:rPr>
              <a:t>Code: accommodations/models.py:52-154, 181-372  |  serializers.py:63-120, 123-219</a:t>
            </a:r>
          </a:p>
        </p:txBody>
      </p:sp>
    </p:spTree>
    <p:extLst>
      <p:ext uri="{BB962C8B-B14F-4D97-AF65-F5344CB8AC3E}">
        <p14:creationId xmlns:p14="http://schemas.microsoft.com/office/powerpoint/2010/main" val="777469174"/>
      </p:ext>
    </p:extLst>
  </p:cSld>
</p:sld>
</file>

<file path=ppt/slides/slide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48537A7-BAED-4459-B116-74A47725CCF3}"/>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Landlord listings pass through review</a:t>
            </a:r>
          </a:p>
        </p:txBody>
      </p:sp>
      <p:sp>
        <p:nvSpPr>
          <p:cNvPr id="2" name="">
            <a:extLst xmlns:a="http://schemas.openxmlformats.org/drawingml/2006/main">
              <a:ext uri="{FF2B5EF4-FFF2-40B4-BE49-F238E27FC236}">
                <a16:creationId xmlns:a16="http://schemas.microsoft.com/office/drawing/2014/main" id="{218B3BE5-B4E0-445F-8D89-C734DBAF7E6E}"/>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The landlord builds a draft; an administrator decides when it can be published.</a:t>
            </a:r>
          </a:p>
        </p:txBody>
      </p:sp>
      <p:sp>
        <p:nvSpPr>
          <p:cNvPr id="3" name="">
            <a:extLst xmlns:a="http://schemas.openxmlformats.org/drawingml/2006/main">
              <a:ext uri="{FF2B5EF4-FFF2-40B4-BE49-F238E27FC236}">
                <a16:creationId xmlns:a16="http://schemas.microsoft.com/office/drawing/2014/main" id="{92E740A7-1D4D-4C2D-84D7-E4EBE622DF3F}"/>
              </a:ext>
            </a:extLst>
          </p:cNvPr>
          <p:cNvSpPr>
            <a:spLocks xmlns:a="http://schemas.openxmlformats.org/drawingml/2006/main" noGrp="1"/>
          </p:cNvSpPr>
          <p:nvPr/>
        </p:nvSpPr>
        <p:spPr>
          <a:xfrm xmlns:a="http://schemas.openxmlformats.org/drawingml/2006/main">
            <a:off x="742950" y="1581150"/>
            <a:ext cx="314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5E63"/>
                </a:solidFill>
                <a:latin typeface="Arial"/>
                <a:ea typeface="Arial"/>
                <a:cs typeface="Arial"/>
              </a:defRPr>
            </a:pPr>
            <a:r>
              <a:rPr sz="1800" b="1">
                <a:solidFill>
                  <a:srgbClr val="075E63"/>
                </a:solidFill>
                <a:latin typeface="Arial"/>
                <a:ea typeface="Arial"/>
                <a:cs typeface="Arial"/>
              </a:rPr>
              <a:t>1  Save a draft</a:t>
            </a:r>
          </a:p>
        </p:txBody>
      </p:sp>
      <p:sp>
        <p:nvSpPr>
          <p:cNvPr id="4" name="">
            <a:extLst xmlns:a="http://schemas.openxmlformats.org/drawingml/2006/main">
              <a:ext uri="{FF2B5EF4-FFF2-40B4-BE49-F238E27FC236}">
                <a16:creationId xmlns:a16="http://schemas.microsoft.com/office/drawing/2014/main" id="{3A0073E8-D39F-43EE-879C-A03E322CB51B}"/>
              </a:ext>
            </a:extLst>
          </p:cNvPr>
          <p:cNvSpPr>
            <a:spLocks xmlns:a="http://schemas.openxmlformats.org/drawingml/2006/main" noGrp="1"/>
          </p:cNvSpPr>
          <p:nvPr/>
        </p:nvSpPr>
        <p:spPr>
          <a:xfrm xmlns:a="http://schemas.openxmlformats.org/drawingml/2006/main">
            <a:off x="742950" y="2000250"/>
            <a:ext cx="314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72A3A"/>
                </a:solidFill>
                <a:latin typeface="Arial"/>
                <a:ea typeface="Arial"/>
                <a:cs typeface="Arial"/>
              </a:defRPr>
            </a:pPr>
            <a:r>
              <a:rPr sz="1425" b="0">
                <a:solidFill>
                  <a:srgbClr val="172A3A"/>
                </a:solidFill>
                <a:latin typeface="Arial"/>
                <a:ea typeface="Arial"/>
                <a:cs typeface="Arial"/>
              </a:rPr>
              <a:t>The landlord page loads options and existing properties, then creates or updates a listing.</a:t>
            </a:r>
          </a:p>
        </p:txBody>
      </p:sp>
      <p:sp>
        <p:nvSpPr>
          <p:cNvPr id="5" name="">
            <a:extLst xmlns:a="http://schemas.openxmlformats.org/drawingml/2006/main">
              <a:ext uri="{FF2B5EF4-FFF2-40B4-BE49-F238E27FC236}">
                <a16:creationId xmlns:a16="http://schemas.microsoft.com/office/drawing/2014/main" id="{4DDEDDD1-7608-460E-A4FC-82D915A2C935}"/>
              </a:ext>
            </a:extLst>
          </p:cNvPr>
          <p:cNvSpPr>
            <a:spLocks xmlns:a="http://schemas.openxmlformats.org/drawingml/2006/main" noGrp="1"/>
          </p:cNvSpPr>
          <p:nvPr/>
        </p:nvSpPr>
        <p:spPr>
          <a:xfrm xmlns:a="http://schemas.openxmlformats.org/drawingml/2006/main">
            <a:off x="4476750" y="1581150"/>
            <a:ext cx="314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5E63"/>
                </a:solidFill>
                <a:latin typeface="Arial"/>
                <a:ea typeface="Arial"/>
                <a:cs typeface="Arial"/>
              </a:defRPr>
            </a:pPr>
            <a:r>
              <a:rPr sz="1800" b="1">
                <a:solidFill>
                  <a:srgbClr val="075E63"/>
                </a:solidFill>
                <a:latin typeface="Arial"/>
                <a:ea typeface="Arial"/>
                <a:cs typeface="Arial"/>
              </a:rPr>
              <a:t>2  Complete the listing</a:t>
            </a:r>
          </a:p>
        </p:txBody>
      </p:sp>
      <p:sp>
        <p:nvSpPr>
          <p:cNvPr id="6" name="">
            <a:extLst xmlns:a="http://schemas.openxmlformats.org/drawingml/2006/main">
              <a:ext uri="{FF2B5EF4-FFF2-40B4-BE49-F238E27FC236}">
                <a16:creationId xmlns:a16="http://schemas.microsoft.com/office/drawing/2014/main" id="{E1979537-7389-45D5-9529-A57439D57D8E}"/>
              </a:ext>
            </a:extLst>
          </p:cNvPr>
          <p:cNvSpPr>
            <a:spLocks xmlns:a="http://schemas.openxmlformats.org/drawingml/2006/main" noGrp="1"/>
          </p:cNvSpPr>
          <p:nvPr/>
        </p:nvSpPr>
        <p:spPr>
          <a:xfrm xmlns:a="http://schemas.openxmlformats.org/drawingml/2006/main">
            <a:off x="4476750" y="2000250"/>
            <a:ext cx="314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72A3A"/>
                </a:solidFill>
                <a:latin typeface="Arial"/>
                <a:ea typeface="Arial"/>
                <a:cs typeface="Arial"/>
              </a:defRPr>
            </a:pPr>
            <a:r>
              <a:rPr sz="1425" b="0">
                <a:solidFill>
                  <a:srgbClr val="172A3A"/>
                </a:solidFill>
                <a:latin typeface="Arial"/>
                <a:ea typeface="Arial"/>
                <a:cs typeface="Arial"/>
              </a:rPr>
              <a:t>Add the property details, photos, buildings, floors, rooms and beds.</a:t>
            </a:r>
          </a:p>
        </p:txBody>
      </p:sp>
      <p:sp>
        <p:nvSpPr>
          <p:cNvPr id="7" name="">
            <a:extLst xmlns:a="http://schemas.openxmlformats.org/drawingml/2006/main">
              <a:ext uri="{FF2B5EF4-FFF2-40B4-BE49-F238E27FC236}">
                <a16:creationId xmlns:a16="http://schemas.microsoft.com/office/drawing/2014/main" id="{BE10CA8F-53D9-42B7-9978-8AA12EFC1E41}"/>
              </a:ext>
            </a:extLst>
          </p:cNvPr>
          <p:cNvSpPr>
            <a:spLocks xmlns:a="http://schemas.openxmlformats.org/drawingml/2006/main" noGrp="1"/>
          </p:cNvSpPr>
          <p:nvPr/>
        </p:nvSpPr>
        <p:spPr>
          <a:xfrm xmlns:a="http://schemas.openxmlformats.org/drawingml/2006/main">
            <a:off x="8210550" y="1581150"/>
            <a:ext cx="314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5E63"/>
                </a:solidFill>
                <a:latin typeface="Arial"/>
                <a:ea typeface="Arial"/>
                <a:cs typeface="Arial"/>
              </a:defRPr>
            </a:pPr>
            <a:r>
              <a:rPr sz="1800" b="1">
                <a:solidFill>
                  <a:srgbClr val="075E63"/>
                </a:solidFill>
                <a:latin typeface="Arial"/>
                <a:ea typeface="Arial"/>
                <a:cs typeface="Arial"/>
              </a:rPr>
              <a:t>3  Submit for review</a:t>
            </a:r>
          </a:p>
        </p:txBody>
      </p:sp>
      <p:sp>
        <p:nvSpPr>
          <p:cNvPr id="8" name="">
            <a:extLst xmlns:a="http://schemas.openxmlformats.org/drawingml/2006/main">
              <a:ext uri="{FF2B5EF4-FFF2-40B4-BE49-F238E27FC236}">
                <a16:creationId xmlns:a16="http://schemas.microsoft.com/office/drawing/2014/main" id="{7FDDAEAE-5AFC-4F05-A23A-110BD7738A2C}"/>
              </a:ext>
            </a:extLst>
          </p:cNvPr>
          <p:cNvSpPr>
            <a:spLocks xmlns:a="http://schemas.openxmlformats.org/drawingml/2006/main" noGrp="1"/>
          </p:cNvSpPr>
          <p:nvPr/>
        </p:nvSpPr>
        <p:spPr>
          <a:xfrm xmlns:a="http://schemas.openxmlformats.org/drawingml/2006/main">
            <a:off x="8210550" y="2000250"/>
            <a:ext cx="314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72A3A"/>
                </a:solidFill>
                <a:latin typeface="Arial"/>
                <a:ea typeface="Arial"/>
                <a:cs typeface="Arial"/>
              </a:defRPr>
            </a:pPr>
            <a:r>
              <a:rPr sz="1425" b="0">
                <a:solidFill>
                  <a:srgbClr val="172A3A"/>
                </a:solidFill>
                <a:latin typeface="Arial"/>
                <a:ea typeface="Arial"/>
                <a:cs typeface="Arial"/>
              </a:rPr>
              <a:t>The server checks landlord verification and required listing content. Admin approval makes it public.</a:t>
            </a:r>
          </a:p>
        </p:txBody>
      </p:sp>
      <p:sp>
        <p:nvSpPr>
          <p:cNvPr id="9" name="">
            <a:extLst xmlns:a="http://schemas.openxmlformats.org/drawingml/2006/main">
              <a:ext uri="{FF2B5EF4-FFF2-40B4-BE49-F238E27FC236}">
                <a16:creationId xmlns:a16="http://schemas.microsoft.com/office/drawing/2014/main" id="{8A4CEDF9-15C8-4DAE-BB76-73D46B569418}"/>
              </a:ext>
            </a:extLst>
          </p:cNvPr>
          <p:cNvSpPr>
            <a:spLocks xmlns:a="http://schemas.openxmlformats.org/drawingml/2006/main" noGrp="1"/>
          </p:cNvSpPr>
          <p:nvPr/>
        </p:nvSpPr>
        <p:spPr>
          <a:xfrm xmlns:a="http://schemas.openxmlformats.org/drawingml/2006/main">
            <a:off x="2019300" y="3810000"/>
            <a:ext cx="3571875" cy="1381125"/>
          </a:xfrm>
          <a:prstGeom xmlns:a="http://schemas.openxmlformats.org/drawingml/2006/main" prst="rect">
            <a:avLst/>
          </a:prstGeom>
          <a:solidFill xmlns:a="http://schemas.openxmlformats.org/drawingml/2006/main">
            <a:srgbClr val="EEF2F3"/>
          </a:solidFill>
          <a:ln xmlns:a="http://schemas.openxmlformats.org/drawingml/2006/main" w="0">
            <a:noFill/>
          </a:ln>
        </p:spPr>
        <p:txBody>
          <a:bodyPr xmlns:a="http://schemas.openxmlformats.org/drawingml/2006/main" wrap="square" lIns="171450" tIns="133350" rIns="171450" bIns="133350" anchor="t">
            <a:normAutofit fontScale="100000"/>
          </a:bodyPr>
          <a:lstStyle xmlns:a="http://schemas.openxmlformats.org/drawingml/2006/main"/>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property_obj = serializer.save(</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landlord=request.user,</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  status=Property.PropertyStatus.DRAFT</a:t>
            </a:r>
          </a:p>
          <a:p xmlns:a="http://schemas.openxmlformats.org/drawingml/2006/main">
            <a:pPr algn="l">
              <a:lnSpc>
                <a:spcPct val="106000"/>
              </a:lnSpc>
              <a:buNone/>
              <a:defRPr sz="1350" b="0">
                <a:solidFill>
                  <a:srgbClr val="172A3A"/>
                </a:solidFill>
                <a:latin typeface="Arial"/>
                <a:ea typeface="Arial"/>
                <a:cs typeface="Arial"/>
              </a:defRPr>
            </a:pPr>
            <a:r>
              <a:rPr sz="1350" b="0">
                <a:solidFill>
                  <a:srgbClr val="172A3A"/>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018744A-2FAB-437D-9BEA-579502873CC7}"/>
              </a:ext>
            </a:extLst>
          </p:cNvPr>
          <p:cNvSpPr>
            <a:spLocks xmlns:a="http://schemas.openxmlformats.org/drawingml/2006/main" noGrp="1"/>
          </p:cNvSpPr>
          <p:nvPr/>
        </p:nvSpPr>
        <p:spPr>
          <a:xfrm xmlns:a="http://schemas.openxmlformats.org/drawingml/2006/main">
            <a:off x="2019300" y="5257800"/>
            <a:ext cx="3571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526474"/>
                </a:solidFill>
                <a:latin typeface="Arial"/>
                <a:ea typeface="Arial"/>
                <a:cs typeface="Arial"/>
              </a:defRPr>
            </a:pPr>
            <a:r>
              <a:rPr sz="1125" b="0">
                <a:solidFill>
                  <a:srgbClr val="526474"/>
                </a:solidFill>
                <a:latin typeface="Arial"/>
                <a:ea typeface="Arial"/>
                <a:cs typeface="Arial"/>
              </a:rPr>
              <a:t>accommodations/views.py:419-431</a:t>
            </a:r>
          </a:p>
        </p:txBody>
      </p:sp>
      <p:sp>
        <p:nvSpPr>
          <p:cNvPr id="11" name="">
            <a:extLst xmlns:a="http://schemas.openxmlformats.org/drawingml/2006/main">
              <a:ext uri="{FF2B5EF4-FFF2-40B4-BE49-F238E27FC236}">
                <a16:creationId xmlns:a16="http://schemas.microsoft.com/office/drawing/2014/main" id="{85528653-6D9C-4F59-9DBD-DDD3900A026B}"/>
              </a:ext>
            </a:extLst>
          </p:cNvPr>
          <p:cNvSpPr>
            <a:spLocks xmlns:a="http://schemas.openxmlformats.org/drawingml/2006/main" noGrp="1"/>
          </p:cNvSpPr>
          <p:nvPr/>
        </p:nvSpPr>
        <p:spPr>
          <a:xfrm xmlns:a="http://schemas.openxmlformats.org/drawingml/2006/main">
            <a:off x="6334125" y="3876675"/>
            <a:ext cx="1924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9A5B08"/>
                </a:solidFill>
                <a:latin typeface="Arial"/>
                <a:ea typeface="Arial"/>
                <a:cs typeface="Arial"/>
              </a:defRPr>
            </a:pPr>
            <a:r>
              <a:rPr sz="1500" b="1">
                <a:solidFill>
                  <a:srgbClr val="9A5B08"/>
                </a:solidFill>
                <a:latin typeface="Arial"/>
                <a:ea typeface="Arial"/>
                <a:cs typeface="Arial"/>
              </a:rPr>
              <a:t>Important rule</a:t>
            </a:r>
          </a:p>
        </p:txBody>
      </p:sp>
      <p:sp>
        <p:nvSpPr>
          <p:cNvPr id="12" name="">
            <a:extLst xmlns:a="http://schemas.openxmlformats.org/drawingml/2006/main">
              <a:ext uri="{FF2B5EF4-FFF2-40B4-BE49-F238E27FC236}">
                <a16:creationId xmlns:a16="http://schemas.microsoft.com/office/drawing/2014/main" id="{3D62B33D-68A6-4BC5-B017-3264780EBD1C}"/>
              </a:ext>
            </a:extLst>
          </p:cNvPr>
          <p:cNvSpPr>
            <a:spLocks xmlns:a="http://schemas.openxmlformats.org/drawingml/2006/main" noGrp="1"/>
          </p:cNvSpPr>
          <p:nvPr/>
        </p:nvSpPr>
        <p:spPr>
          <a:xfrm xmlns:a="http://schemas.openxmlformats.org/drawingml/2006/main">
            <a:off x="6334125" y="4257675"/>
            <a:ext cx="4191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72A3A"/>
                </a:solidFill>
                <a:latin typeface="Arial"/>
                <a:ea typeface="Arial"/>
                <a:cs typeface="Arial"/>
              </a:defRPr>
            </a:pPr>
            <a:r>
              <a:rPr sz="1500" b="0">
                <a:solidFill>
                  <a:srgbClr val="172A3A"/>
                </a:solidFill>
                <a:latin typeface="Arial"/>
                <a:ea typeface="Arial"/>
                <a:cs typeface="Arial"/>
              </a:rPr>
              <a:t>A landlord can edit only their own listings. A student sees only approved properties.</a:t>
            </a:r>
          </a:p>
        </p:txBody>
      </p:sp>
      <p:sp>
        <p:nvSpPr>
          <p:cNvPr id="13" name="">
            <a:extLst xmlns:a="http://schemas.openxmlformats.org/drawingml/2006/main">
              <a:ext uri="{FF2B5EF4-FFF2-40B4-BE49-F238E27FC236}">
                <a16:creationId xmlns:a16="http://schemas.microsoft.com/office/drawing/2014/main" id="{8FB5A5AB-0145-487E-A8C7-B5A87D077E38}"/>
              </a:ext>
            </a:extLst>
          </p:cNvPr>
          <p:cNvSpPr>
            <a:spLocks xmlns:a="http://schemas.openxmlformats.org/drawingml/2006/main" noGrp="1"/>
          </p:cNvSpPr>
          <p:nvPr/>
        </p:nvSpPr>
        <p:spPr>
          <a:xfrm xmlns:a="http://schemas.openxmlformats.org/drawingml/2006/main">
            <a:off x="685800" y="64389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526474"/>
                </a:solidFill>
                <a:latin typeface="Arial"/>
                <a:ea typeface="Arial"/>
                <a:cs typeface="Arial"/>
              </a:defRPr>
            </a:pPr>
            <a:r>
              <a:rPr sz="1050" b="0">
                <a:solidFill>
                  <a:srgbClr val="526474"/>
                </a:solidFill>
                <a:latin typeface="Arial"/>
                <a:ea typeface="Arial"/>
                <a:cs typeface="Arial"/>
              </a:rPr>
              <a:t>UI: landlord/Properties.tsx:217-281  |  Submit: accommodations/views.py:481-523  |  Review: 709-766</a:t>
            </a:r>
          </a:p>
        </p:txBody>
      </p:sp>
    </p:spTree>
    <p:extLst>
      <p:ext uri="{BB962C8B-B14F-4D97-AF65-F5344CB8AC3E}">
        <p14:creationId xmlns:p14="http://schemas.microsoft.com/office/powerpoint/2010/main" val="427949749"/>
      </p:ext>
    </p:extLst>
  </p:cSld>
</p:sld>
</file>

<file path=ppt/slides/slide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A94E20-293E-476E-9EBC-4CE6C22C3206}"/>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Other features support the search decision</a:t>
            </a:r>
          </a:p>
        </p:txBody>
      </p:sp>
      <p:sp>
        <p:nvSpPr>
          <p:cNvPr id="2" name="">
            <a:extLst xmlns:a="http://schemas.openxmlformats.org/drawingml/2006/main">
              <a:ext uri="{FF2B5EF4-FFF2-40B4-BE49-F238E27FC236}">
                <a16:creationId xmlns:a16="http://schemas.microsoft.com/office/drawing/2014/main" id="{3220F741-03A1-465D-8C90-D9409ADA269C}"/>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The accommodation slice also covers comparison, recommendations, reviews and the waiting list.</a:t>
            </a:r>
          </a:p>
        </p:txBody>
      </p:sp>
      <p:sp>
        <p:nvSpPr>
          <p:cNvPr id="3" name="">
            <a:extLst xmlns:a="http://schemas.openxmlformats.org/drawingml/2006/main">
              <a:ext uri="{FF2B5EF4-FFF2-40B4-BE49-F238E27FC236}">
                <a16:creationId xmlns:a16="http://schemas.microsoft.com/office/drawing/2014/main" id="{3D63C038-43D5-49FD-9EB3-EFEDF0DB97CA}"/>
              </a:ext>
            </a:extLst>
          </p:cNvPr>
          <p:cNvSpPr>
            <a:spLocks xmlns:a="http://schemas.openxmlformats.org/drawingml/2006/main" noGrp="1"/>
          </p:cNvSpPr>
          <p:nvPr/>
        </p:nvSpPr>
        <p:spPr>
          <a:xfrm xmlns:a="http://schemas.openxmlformats.org/drawingml/2006/main">
            <a:off x="742950" y="15716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5E63"/>
                </a:solidFill>
                <a:latin typeface="Arial"/>
                <a:ea typeface="Arial"/>
                <a:cs typeface="Arial"/>
              </a:defRPr>
            </a:pPr>
            <a:r>
              <a:rPr sz="1800" b="1">
                <a:solidFill>
                  <a:srgbClr val="075E63"/>
                </a:solidFill>
                <a:latin typeface="Arial"/>
                <a:ea typeface="Arial"/>
                <a:cs typeface="Arial"/>
              </a:rPr>
              <a:t>Student choice</a:t>
            </a:r>
          </a:p>
        </p:txBody>
      </p:sp>
      <p:sp>
        <p:nvSpPr>
          <p:cNvPr id="4" name="">
            <a:extLst xmlns:a="http://schemas.openxmlformats.org/drawingml/2006/main">
              <a:ext uri="{FF2B5EF4-FFF2-40B4-BE49-F238E27FC236}">
                <a16:creationId xmlns:a16="http://schemas.microsoft.com/office/drawing/2014/main" id="{CD64C2F5-D826-4E2F-ACFC-36F3463FB2C5}"/>
              </a:ext>
            </a:extLst>
          </p:cNvPr>
          <p:cNvSpPr>
            <a:spLocks xmlns:a="http://schemas.openxmlformats.org/drawingml/2006/main" noGrp="1"/>
          </p:cNvSpPr>
          <p:nvPr/>
        </p:nvSpPr>
        <p:spPr>
          <a:xfrm xmlns:a="http://schemas.openxmlformats.org/drawingml/2006/main">
            <a:off x="742950" y="1981200"/>
            <a:ext cx="47244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72A3A"/>
                </a:solidFill>
                <a:latin typeface="Arial"/>
                <a:ea typeface="Arial"/>
                <a:cs typeface="Arial"/>
              </a:defRPr>
            </a:pPr>
            <a:r>
              <a:rPr sz="1500" b="0">
                <a:solidFill>
                  <a:srgbClr val="172A3A"/>
                </a:solidFill>
                <a:latin typeface="Arial"/>
                <a:ea typeface="Arial"/>
                <a:cs typeface="Arial"/>
              </a:rPr>
              <a:t>Compare up to three properties. Saved properties are tied to the student account. Property detail, room detail and map pages reuse the same property data.</a:t>
            </a:r>
          </a:p>
        </p:txBody>
      </p:sp>
      <p:sp>
        <p:nvSpPr>
          <p:cNvPr id="5" name="">
            <a:extLst xmlns:a="http://schemas.openxmlformats.org/drawingml/2006/main">
              <a:ext uri="{FF2B5EF4-FFF2-40B4-BE49-F238E27FC236}">
                <a16:creationId xmlns:a16="http://schemas.microsoft.com/office/drawing/2014/main" id="{7B772621-A01F-4221-B971-7DCC00AFF4DA}"/>
              </a:ext>
            </a:extLst>
          </p:cNvPr>
          <p:cNvSpPr>
            <a:spLocks xmlns:a="http://schemas.openxmlformats.org/drawingml/2006/main" noGrp="1"/>
          </p:cNvSpPr>
          <p:nvPr/>
        </p:nvSpPr>
        <p:spPr>
          <a:xfrm xmlns:a="http://schemas.openxmlformats.org/drawingml/2006/main">
            <a:off x="6343650" y="15716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5E63"/>
                </a:solidFill>
                <a:latin typeface="Arial"/>
                <a:ea typeface="Arial"/>
                <a:cs typeface="Arial"/>
              </a:defRPr>
            </a:pPr>
            <a:r>
              <a:rPr sz="1800" b="1">
                <a:solidFill>
                  <a:srgbClr val="075E63"/>
                </a:solidFill>
                <a:latin typeface="Arial"/>
                <a:ea typeface="Arial"/>
                <a:cs typeface="Arial"/>
              </a:rPr>
              <a:t>When a room is full</a:t>
            </a:r>
          </a:p>
        </p:txBody>
      </p:sp>
      <p:sp>
        <p:nvSpPr>
          <p:cNvPr id="6" name="">
            <a:extLst xmlns:a="http://schemas.openxmlformats.org/drawingml/2006/main">
              <a:ext uri="{FF2B5EF4-FFF2-40B4-BE49-F238E27FC236}">
                <a16:creationId xmlns:a16="http://schemas.microsoft.com/office/drawing/2014/main" id="{BAAC4071-9F97-4F81-A9A9-8A3BAA639721}"/>
              </a:ext>
            </a:extLst>
          </p:cNvPr>
          <p:cNvSpPr>
            <a:spLocks xmlns:a="http://schemas.openxmlformats.org/drawingml/2006/main" noGrp="1"/>
          </p:cNvSpPr>
          <p:nvPr/>
        </p:nvSpPr>
        <p:spPr>
          <a:xfrm xmlns:a="http://schemas.openxmlformats.org/drawingml/2006/main">
            <a:off x="6343650" y="19812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72A3A"/>
                </a:solidFill>
                <a:latin typeface="Arial"/>
                <a:ea typeface="Arial"/>
                <a:cs typeface="Arial"/>
              </a:defRPr>
            </a:pPr>
            <a:r>
              <a:rPr sz="1500" b="0">
                <a:solidFill>
                  <a:srgbClr val="172A3A"/>
                </a:solidFill>
                <a:latin typeface="Arial"/>
                <a:ea typeface="Arial"/>
                <a:cs typeface="Arial"/>
              </a:rPr>
              <a:t>Students can join a preference-based waiting list. A matching bed can trigger a 48-hour offer and an application draft.</a:t>
            </a:r>
          </a:p>
        </p:txBody>
      </p:sp>
      <p:sp>
        <p:nvSpPr>
          <p:cNvPr id="7" name="">
            <a:extLst xmlns:a="http://schemas.openxmlformats.org/drawingml/2006/main">
              <a:ext uri="{FF2B5EF4-FFF2-40B4-BE49-F238E27FC236}">
                <a16:creationId xmlns:a16="http://schemas.microsoft.com/office/drawing/2014/main" id="{FAE221CE-9794-4AB0-A8E8-9D172EBB73D6}"/>
              </a:ext>
            </a:extLst>
          </p:cNvPr>
          <p:cNvSpPr>
            <a:spLocks xmlns:a="http://schemas.openxmlformats.org/drawingml/2006/main" noGrp="1"/>
          </p:cNvSpPr>
          <p:nvPr/>
        </p:nvSpPr>
        <p:spPr>
          <a:xfrm xmlns:a="http://schemas.openxmlformats.org/drawingml/2006/main">
            <a:off x="742950" y="38290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172A3A"/>
                </a:solidFill>
                <a:latin typeface="Arial"/>
                <a:ea typeface="Arial"/>
                <a:cs typeface="Arial"/>
              </a:defRPr>
            </a:pPr>
            <a:r>
              <a:rPr sz="1800" b="1">
                <a:solidFill>
                  <a:srgbClr val="172A3A"/>
                </a:solidFill>
                <a:latin typeface="Arial"/>
                <a:ea typeface="Arial"/>
                <a:cs typeface="Arial"/>
              </a:rPr>
              <a:t>Recommendations are transparent rules, not machine learning</a:t>
            </a:r>
          </a:p>
        </p:txBody>
      </p:sp>
      <p:sp>
        <p:nvSpPr>
          <p:cNvPr id="8" name="">
            <a:extLst xmlns:a="http://schemas.openxmlformats.org/drawingml/2006/main">
              <a:ext uri="{FF2B5EF4-FFF2-40B4-BE49-F238E27FC236}">
                <a16:creationId xmlns:a16="http://schemas.microsoft.com/office/drawing/2014/main" id="{8FCC64FC-C4B3-49A1-9F81-D504CCE64A84}"/>
              </a:ext>
            </a:extLst>
          </p:cNvPr>
          <p:cNvSpPr>
            <a:spLocks xmlns:a="http://schemas.openxmlformats.org/drawingml/2006/main" noGrp="1"/>
          </p:cNvSpPr>
          <p:nvPr/>
        </p:nvSpPr>
        <p:spPr>
          <a:xfrm xmlns:a="http://schemas.openxmlformats.org/drawingml/2006/main">
            <a:off x="742950" y="4314825"/>
            <a:ext cx="10344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526474"/>
                </a:solidFill>
                <a:latin typeface="Arial"/>
                <a:ea typeface="Arial"/>
                <a:cs typeface="Arial"/>
              </a:defRPr>
            </a:pPr>
            <a:r>
              <a:rPr sz="1500" b="0">
                <a:solidFill>
                  <a:srgbClr val="526474"/>
                </a:solidFill>
                <a:latin typeface="Arial"/>
                <a:ea typeface="Arial"/>
                <a:cs typeface="Arial"/>
              </a:rPr>
              <a:t>The backend scores availability and the student's budget, room type, accessibility, distance and campus preferences; it returns reasons and considerations.</a:t>
            </a:r>
          </a:p>
        </p:txBody>
      </p:sp>
      <p:sp>
        <p:nvSpPr>
          <p:cNvPr id="9" name="">
            <a:extLst xmlns:a="http://schemas.openxmlformats.org/drawingml/2006/main">
              <a:ext uri="{FF2B5EF4-FFF2-40B4-BE49-F238E27FC236}">
                <a16:creationId xmlns:a16="http://schemas.microsoft.com/office/drawing/2014/main" id="{167CE767-4DFC-46A4-9352-B0E2EEC60FDE}"/>
              </a:ext>
            </a:extLst>
          </p:cNvPr>
          <p:cNvSpPr>
            <a:spLocks xmlns:a="http://schemas.openxmlformats.org/drawingml/2006/main" noGrp="1"/>
          </p:cNvSpPr>
          <p:nvPr/>
        </p:nvSpPr>
        <p:spPr>
          <a:xfrm xmlns:a="http://schemas.openxmlformats.org/drawingml/2006/main">
            <a:off x="742950" y="5343525"/>
            <a:ext cx="10429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75E63"/>
                </a:solidFill>
                <a:latin typeface="Arial"/>
                <a:ea typeface="Arial"/>
                <a:cs typeface="Arial"/>
              </a:defRPr>
            </a:pPr>
            <a:r>
              <a:rPr sz="1500" b="1">
                <a:solidFill>
                  <a:srgbClr val="075E63"/>
                </a:solidFill>
                <a:latin typeface="Arial"/>
                <a:ea typeface="Arial"/>
                <a:cs typeface="Arial"/>
              </a:rPr>
              <a:t>Close: one student search travels through React, a shared API helper, Django views and serializers, and structured accommodation records.</a:t>
            </a:r>
          </a:p>
        </p:txBody>
      </p:sp>
      <p:sp>
        <p:nvSpPr>
          <p:cNvPr id="10" name="">
            <a:extLst xmlns:a="http://schemas.openxmlformats.org/drawingml/2006/main">
              <a:ext uri="{FF2B5EF4-FFF2-40B4-BE49-F238E27FC236}">
                <a16:creationId xmlns:a16="http://schemas.microsoft.com/office/drawing/2014/main" id="{41693DB9-0A2D-42CE-AA31-320FA6058E34}"/>
              </a:ext>
            </a:extLst>
          </p:cNvPr>
          <p:cNvSpPr>
            <a:spLocks xmlns:a="http://schemas.openxmlformats.org/drawingml/2006/main" noGrp="1"/>
          </p:cNvSpPr>
          <p:nvPr/>
        </p:nvSpPr>
        <p:spPr>
          <a:xfrm xmlns:a="http://schemas.openxmlformats.org/drawingml/2006/main">
            <a:off x="685800" y="64389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526474"/>
                </a:solidFill>
                <a:latin typeface="Arial"/>
                <a:ea typeface="Arial"/>
                <a:cs typeface="Arial"/>
              </a:defRPr>
            </a:pPr>
            <a:r>
              <a:rPr sz="1050" b="0">
                <a:solidFill>
                  <a:srgbClr val="526474"/>
                </a:solidFill>
                <a:latin typeface="Arial"/>
                <a:ea typeface="Arial"/>
                <a:cs typeface="Arial"/>
              </a:rPr>
              <a:t>Code: compare/SavedProperties; student/Recommendations and WaitingList; accommodations/views.py:272-377; waitinglist/services.py:13-78</a:t>
            </a:r>
          </a:p>
        </p:txBody>
      </p:sp>
    </p:spTree>
    <p:extLst>
      <p:ext uri="{BB962C8B-B14F-4D97-AF65-F5344CB8AC3E}">
        <p14:creationId xmlns:p14="http://schemas.microsoft.com/office/powerpoint/2010/main" val="2062851737"/>
      </p:ext>
    </p:extLst>
  </p:cSld>
</p:sld>
</file>

<file path=ppt/slides/slide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373B33-12F8-4AC0-AE77-7C85019E891A}"/>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Code map 1  Student search</a:t>
            </a:r>
          </a:p>
        </p:txBody>
      </p:sp>
      <p:sp>
        <p:nvSpPr>
          <p:cNvPr id="2" name="">
            <a:extLst xmlns:a="http://schemas.openxmlformats.org/drawingml/2006/main">
              <a:ext uri="{FF2B5EF4-FFF2-40B4-BE49-F238E27FC236}">
                <a16:creationId xmlns:a16="http://schemas.microsoft.com/office/drawing/2014/main" id="{6FC3AEC3-B17F-477E-8C2D-B62C7A3F5D94}"/>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Open these exact ranges in this order. In VS Code, use Ctrl+G to jump to a line.</a:t>
            </a:r>
          </a:p>
        </p:txBody>
      </p:sp>
      <p:sp>
        <p:nvSpPr>
          <p:cNvPr id="3" name="">
            <a:extLst xmlns:a="http://schemas.openxmlformats.org/drawingml/2006/main">
              <a:ext uri="{FF2B5EF4-FFF2-40B4-BE49-F238E27FC236}">
                <a16:creationId xmlns:a16="http://schemas.microsoft.com/office/drawing/2014/main" id="{F7F6B362-11D7-46F7-A618-98985CA76319}"/>
              </a:ext>
            </a:extLst>
          </p:cNvPr>
          <p:cNvSpPr>
            <a:spLocks xmlns:a="http://schemas.openxmlformats.org/drawingml/2006/main" noGrp="1"/>
          </p:cNvSpPr>
          <p:nvPr/>
        </p:nvSpPr>
        <p:spPr>
          <a:xfrm xmlns:a="http://schemas.openxmlformats.org/drawingml/2006/main">
            <a:off x="742950" y="1495425"/>
            <a:ext cx="2571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75E63"/>
                </a:solidFill>
                <a:latin typeface="Arial"/>
                <a:ea typeface="Arial"/>
                <a:cs typeface="Arial"/>
              </a:defRPr>
            </a:pPr>
            <a:r>
              <a:rPr sz="1650" b="1">
                <a:solidFill>
                  <a:srgbClr val="075E63"/>
                </a:solidFill>
                <a:latin typeface="Arial"/>
                <a:ea typeface="Arial"/>
                <a:cs typeface="Arial"/>
              </a:rPr>
              <a:t>1  React page</a:t>
            </a:r>
          </a:p>
        </p:txBody>
      </p:sp>
      <p:sp>
        <p:nvSpPr>
          <p:cNvPr id="4" name="">
            <a:extLst xmlns:a="http://schemas.openxmlformats.org/drawingml/2006/main">
              <a:ext uri="{FF2B5EF4-FFF2-40B4-BE49-F238E27FC236}">
                <a16:creationId xmlns:a16="http://schemas.microsoft.com/office/drawing/2014/main" id="{0566607B-514C-45B3-AC12-EC04E60E667F}"/>
              </a:ext>
            </a:extLst>
          </p:cNvPr>
          <p:cNvSpPr>
            <a:spLocks xmlns:a="http://schemas.openxmlformats.org/drawingml/2006/main" noGrp="1"/>
          </p:cNvSpPr>
          <p:nvPr/>
        </p:nvSpPr>
        <p:spPr>
          <a:xfrm xmlns:a="http://schemas.openxmlformats.org/drawingml/2006/main">
            <a:off x="742950" y="1895475"/>
            <a:ext cx="47625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frontend/src/pages/accommodation/Discovery.tsx</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59-90  load and request results</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93-130  filter reload, favorites and comparison</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418-558  render result cards</a:t>
            </a:r>
          </a:p>
        </p:txBody>
      </p:sp>
      <p:sp>
        <p:nvSpPr>
          <p:cNvPr id="5" name="">
            <a:extLst xmlns:a="http://schemas.openxmlformats.org/drawingml/2006/main">
              <a:ext uri="{FF2B5EF4-FFF2-40B4-BE49-F238E27FC236}">
                <a16:creationId xmlns:a16="http://schemas.microsoft.com/office/drawing/2014/main" id="{A0C45B21-979E-4790-A964-FEA370821D2D}"/>
              </a:ext>
            </a:extLst>
          </p:cNvPr>
          <p:cNvSpPr>
            <a:spLocks xmlns:a="http://schemas.openxmlformats.org/drawingml/2006/main" noGrp="1"/>
          </p:cNvSpPr>
          <p:nvPr/>
        </p:nvSpPr>
        <p:spPr>
          <a:xfrm xmlns:a="http://schemas.openxmlformats.org/drawingml/2006/main">
            <a:off x="6362700" y="1495425"/>
            <a:ext cx="2571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75E63"/>
                </a:solidFill>
                <a:latin typeface="Arial"/>
                <a:ea typeface="Arial"/>
                <a:cs typeface="Arial"/>
              </a:defRPr>
            </a:pPr>
            <a:r>
              <a:rPr sz="1650" b="1">
                <a:solidFill>
                  <a:srgbClr val="075E63"/>
                </a:solidFill>
                <a:latin typeface="Arial"/>
                <a:ea typeface="Arial"/>
                <a:cs typeface="Arial"/>
              </a:rPr>
              <a:t>2  API helper</a:t>
            </a:r>
          </a:p>
        </p:txBody>
      </p:sp>
      <p:sp>
        <p:nvSpPr>
          <p:cNvPr id="6" name="">
            <a:extLst xmlns:a="http://schemas.openxmlformats.org/drawingml/2006/main">
              <a:ext uri="{FF2B5EF4-FFF2-40B4-BE49-F238E27FC236}">
                <a16:creationId xmlns:a16="http://schemas.microsoft.com/office/drawing/2014/main" id="{A7FEFC4E-D6D5-4559-89C5-C8EBFD1CEE35}"/>
              </a:ext>
            </a:extLst>
          </p:cNvPr>
          <p:cNvSpPr>
            <a:spLocks xmlns:a="http://schemas.openxmlformats.org/drawingml/2006/main" noGrp="1"/>
          </p:cNvSpPr>
          <p:nvPr/>
        </p:nvSpPr>
        <p:spPr>
          <a:xfrm xmlns:a="http://schemas.openxmlformats.org/drawingml/2006/main">
            <a:off x="6362700" y="1895475"/>
            <a:ext cx="47148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frontend/src/services/api.ts</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1303-1349  getProperties</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1438-1455  student favorites</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1464-1484  accommodation recommendations</a:t>
            </a:r>
          </a:p>
        </p:txBody>
      </p:sp>
      <p:sp>
        <p:nvSpPr>
          <p:cNvPr id="7" name="">
            <a:extLst xmlns:a="http://schemas.openxmlformats.org/drawingml/2006/main">
              <a:ext uri="{FF2B5EF4-FFF2-40B4-BE49-F238E27FC236}">
                <a16:creationId xmlns:a16="http://schemas.microsoft.com/office/drawing/2014/main" id="{FD37FB4E-B9AF-49C1-B673-52E1CE956ADA}"/>
              </a:ext>
            </a:extLst>
          </p:cNvPr>
          <p:cNvSpPr>
            <a:spLocks xmlns:a="http://schemas.openxmlformats.org/drawingml/2006/main" noGrp="1"/>
          </p:cNvSpPr>
          <p:nvPr/>
        </p:nvSpPr>
        <p:spPr>
          <a:xfrm xmlns:a="http://schemas.openxmlformats.org/drawingml/2006/main">
            <a:off x="742950" y="3990975"/>
            <a:ext cx="4191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75E63"/>
                </a:solidFill>
                <a:latin typeface="Arial"/>
                <a:ea typeface="Arial"/>
                <a:cs typeface="Arial"/>
              </a:defRPr>
            </a:pPr>
            <a:r>
              <a:rPr sz="1650" b="1">
                <a:solidFill>
                  <a:srgbClr val="075E63"/>
                </a:solidFill>
                <a:latin typeface="Arial"/>
                <a:ea typeface="Arial"/>
                <a:cs typeface="Arial"/>
              </a:rPr>
              <a:t>3  Django listing endpoint</a:t>
            </a:r>
          </a:p>
        </p:txBody>
      </p:sp>
      <p:sp>
        <p:nvSpPr>
          <p:cNvPr id="8" name="">
            <a:extLst xmlns:a="http://schemas.openxmlformats.org/drawingml/2006/main">
              <a:ext uri="{FF2B5EF4-FFF2-40B4-BE49-F238E27FC236}">
                <a16:creationId xmlns:a16="http://schemas.microsoft.com/office/drawing/2014/main" id="{E00F5EAD-8994-4E04-9684-6CC54B26931F}"/>
              </a:ext>
            </a:extLst>
          </p:cNvPr>
          <p:cNvSpPr>
            <a:spLocks xmlns:a="http://schemas.openxmlformats.org/drawingml/2006/main" noGrp="1"/>
          </p:cNvSpPr>
          <p:nvPr/>
        </p:nvSpPr>
        <p:spPr>
          <a:xfrm xmlns:a="http://schemas.openxmlformats.org/drawingml/2006/main">
            <a:off x="742950" y="440055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accommodations/views.py:62-187</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62-95  approved listings and search</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101-175  filters and sorting</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177-187  serialize and return JSON</a:t>
            </a:r>
          </a:p>
        </p:txBody>
      </p:sp>
      <p:sp>
        <p:nvSpPr>
          <p:cNvPr id="9" name="">
            <a:extLst xmlns:a="http://schemas.openxmlformats.org/drawingml/2006/main">
              <a:ext uri="{FF2B5EF4-FFF2-40B4-BE49-F238E27FC236}">
                <a16:creationId xmlns:a16="http://schemas.microsoft.com/office/drawing/2014/main" id="{0DC726D2-4A71-43AF-A00E-AC4F1BE9B357}"/>
              </a:ext>
            </a:extLst>
          </p:cNvPr>
          <p:cNvSpPr>
            <a:spLocks xmlns:a="http://schemas.openxmlformats.org/drawingml/2006/main" noGrp="1"/>
          </p:cNvSpPr>
          <p:nvPr/>
        </p:nvSpPr>
        <p:spPr>
          <a:xfrm xmlns:a="http://schemas.openxmlformats.org/drawingml/2006/main">
            <a:off x="6362700" y="3990975"/>
            <a:ext cx="361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75E63"/>
                </a:solidFill>
                <a:latin typeface="Arial"/>
                <a:ea typeface="Arial"/>
                <a:cs typeface="Arial"/>
              </a:defRPr>
            </a:pPr>
            <a:r>
              <a:rPr sz="1650" b="1">
                <a:solidFill>
                  <a:srgbClr val="075E63"/>
                </a:solidFill>
                <a:latin typeface="Arial"/>
                <a:ea typeface="Arial"/>
                <a:cs typeface="Arial"/>
              </a:rPr>
              <a:t>4  Response serializer</a:t>
            </a:r>
          </a:p>
        </p:txBody>
      </p:sp>
      <p:sp>
        <p:nvSpPr>
          <p:cNvPr id="10" name="">
            <a:extLst xmlns:a="http://schemas.openxmlformats.org/drawingml/2006/main">
              <a:ext uri="{FF2B5EF4-FFF2-40B4-BE49-F238E27FC236}">
                <a16:creationId xmlns:a16="http://schemas.microsoft.com/office/drawing/2014/main" id="{5D481256-455F-47FD-A088-4CC82A310D34}"/>
              </a:ext>
            </a:extLst>
          </p:cNvPr>
          <p:cNvSpPr>
            <a:spLocks xmlns:a="http://schemas.openxmlformats.org/drawingml/2006/main" noGrp="1"/>
          </p:cNvSpPr>
          <p:nvPr/>
        </p:nvSpPr>
        <p:spPr>
          <a:xfrm xmlns:a="http://schemas.openxmlformats.org/drawingml/2006/main">
            <a:off x="6362700" y="4400550"/>
            <a:ext cx="4714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accommodations/serializers.py:123-219</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Maps fields and related rooms to JSON, including campus, photos, amenities and availability counts.</a:t>
            </a:r>
          </a:p>
        </p:txBody>
      </p:sp>
      <p:sp>
        <p:nvSpPr>
          <p:cNvPr id="11" name="">
            <a:extLst xmlns:a="http://schemas.openxmlformats.org/drawingml/2006/main">
              <a:ext uri="{FF2B5EF4-FFF2-40B4-BE49-F238E27FC236}">
                <a16:creationId xmlns:a16="http://schemas.microsoft.com/office/drawing/2014/main" id="{8DFCFC70-9804-4802-BAC8-E5A9BA4CA176}"/>
              </a:ext>
            </a:extLst>
          </p:cNvPr>
          <p:cNvSpPr>
            <a:spLocks xmlns:a="http://schemas.openxmlformats.org/drawingml/2006/main" noGrp="1"/>
          </p:cNvSpPr>
          <p:nvPr/>
        </p:nvSpPr>
        <p:spPr>
          <a:xfrm xmlns:a="http://schemas.openxmlformats.org/drawingml/2006/main">
            <a:off x="685800" y="64389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526474"/>
                </a:solidFill>
                <a:latin typeface="Arial"/>
                <a:ea typeface="Arial"/>
                <a:cs typeface="Arial"/>
              </a:defRPr>
            </a:pPr>
            <a:r>
              <a:rPr sz="1050" b="0">
                <a:solidFill>
                  <a:srgbClr val="526474"/>
                </a:solidFill>
                <a:latin typeface="Arial"/>
                <a:ea typeface="Arial"/>
                <a:cs typeface="Arial"/>
              </a:rPr>
              <a:t>If line numbers move, search for the named function or class in the file.</a:t>
            </a:r>
          </a:p>
        </p:txBody>
      </p:sp>
    </p:spTree>
    <p:extLst>
      <p:ext uri="{BB962C8B-B14F-4D97-AF65-F5344CB8AC3E}">
        <p14:creationId xmlns:p14="http://schemas.microsoft.com/office/powerpoint/2010/main" val="284948198"/>
      </p:ext>
    </p:extLst>
  </p:cSld>
</p:sld>
</file>

<file path=ppt/slides/slide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0D808E-0409-4FC9-9343-97E648EEEB0E}"/>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Code map 2  Property data and landlord review</a:t>
            </a:r>
          </a:p>
        </p:txBody>
      </p:sp>
      <p:sp>
        <p:nvSpPr>
          <p:cNvPr id="2" name="">
            <a:extLst xmlns:a="http://schemas.openxmlformats.org/drawingml/2006/main">
              <a:ext uri="{FF2B5EF4-FFF2-40B4-BE49-F238E27FC236}">
                <a16:creationId xmlns:a16="http://schemas.microsoft.com/office/drawing/2014/main" id="{3F135717-9EDA-4BCB-90EA-73ED8AE1AAFF}"/>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These lines show how a listing is created, checked and published.</a:t>
            </a:r>
          </a:p>
        </p:txBody>
      </p:sp>
      <p:sp>
        <p:nvSpPr>
          <p:cNvPr id="3" name="">
            <a:extLst xmlns:a="http://schemas.openxmlformats.org/drawingml/2006/main">
              <a:ext uri="{FF2B5EF4-FFF2-40B4-BE49-F238E27FC236}">
                <a16:creationId xmlns:a16="http://schemas.microsoft.com/office/drawing/2014/main" id="{82DB187F-4BDE-4200-BA6A-DC3C33F65FFD}"/>
              </a:ext>
            </a:extLst>
          </p:cNvPr>
          <p:cNvSpPr>
            <a:spLocks xmlns:a="http://schemas.openxmlformats.org/drawingml/2006/main" noGrp="1"/>
          </p:cNvSpPr>
          <p:nvPr/>
        </p:nvSpPr>
        <p:spPr>
          <a:xfrm xmlns:a="http://schemas.openxmlformats.org/drawingml/2006/main">
            <a:off x="742950" y="14668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75E63"/>
                </a:solidFill>
                <a:latin typeface="Arial"/>
                <a:ea typeface="Arial"/>
                <a:cs typeface="Arial"/>
              </a:defRPr>
            </a:pPr>
            <a:r>
              <a:rPr sz="1650" b="1">
                <a:solidFill>
                  <a:srgbClr val="075E63"/>
                </a:solidFill>
                <a:latin typeface="Arial"/>
                <a:ea typeface="Arial"/>
                <a:cs typeface="Arial"/>
              </a:rPr>
              <a:t>Data and validation</a:t>
            </a:r>
          </a:p>
        </p:txBody>
      </p:sp>
      <p:sp>
        <p:nvSpPr>
          <p:cNvPr id="4" name="">
            <a:extLst xmlns:a="http://schemas.openxmlformats.org/drawingml/2006/main">
              <a:ext uri="{FF2B5EF4-FFF2-40B4-BE49-F238E27FC236}">
                <a16:creationId xmlns:a16="http://schemas.microsoft.com/office/drawing/2014/main" id="{25E2CE0C-1A06-4207-A635-0E32030E49BF}"/>
              </a:ext>
            </a:extLst>
          </p:cNvPr>
          <p:cNvSpPr>
            <a:spLocks xmlns:a="http://schemas.openxmlformats.org/drawingml/2006/main" noGrp="1"/>
          </p:cNvSpPr>
          <p:nvPr/>
        </p:nvSpPr>
        <p:spPr>
          <a:xfrm xmlns:a="http://schemas.openxmlformats.org/drawingml/2006/main">
            <a:off x="742950" y="1885950"/>
            <a:ext cx="47625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accommodations/models.py</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52-154  Property fields and approval status</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181-372  Building, Floor, Room and Bed</a:t>
            </a:r>
          </a:p>
          <a:p xmlns:a="http://schemas.openxmlformats.org/drawingml/2006/main">
            <a:r>
              <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accommodations/serializers.py</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275-425  managed property fields and validation</a:t>
            </a:r>
          </a:p>
        </p:txBody>
      </p:sp>
      <p:sp>
        <p:nvSpPr>
          <p:cNvPr id="5" name="">
            <a:extLst xmlns:a="http://schemas.openxmlformats.org/drawingml/2006/main">
              <a:ext uri="{FF2B5EF4-FFF2-40B4-BE49-F238E27FC236}">
                <a16:creationId xmlns:a16="http://schemas.microsoft.com/office/drawing/2014/main" id="{D06A0168-EEDE-4428-961A-3107AA9AB60E}"/>
              </a:ext>
            </a:extLst>
          </p:cNvPr>
          <p:cNvSpPr>
            <a:spLocks xmlns:a="http://schemas.openxmlformats.org/drawingml/2006/main" noGrp="1"/>
          </p:cNvSpPr>
          <p:nvPr/>
        </p:nvSpPr>
        <p:spPr>
          <a:xfrm xmlns:a="http://schemas.openxmlformats.org/drawingml/2006/main">
            <a:off x="6362700" y="14668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75E63"/>
                </a:solidFill>
                <a:latin typeface="Arial"/>
                <a:ea typeface="Arial"/>
                <a:cs typeface="Arial"/>
              </a:defRPr>
            </a:pPr>
            <a:r>
              <a:rPr sz="1650" b="1">
                <a:solidFill>
                  <a:srgbClr val="075E63"/>
                </a:solidFill>
                <a:latin typeface="Arial"/>
                <a:ea typeface="Arial"/>
                <a:cs typeface="Arial"/>
              </a:rPr>
              <a:t>Create to approval</a:t>
            </a:r>
          </a:p>
        </p:txBody>
      </p:sp>
      <p:sp>
        <p:nvSpPr>
          <p:cNvPr id="6" name="">
            <a:extLst xmlns:a="http://schemas.openxmlformats.org/drawingml/2006/main">
              <a:ext uri="{FF2B5EF4-FFF2-40B4-BE49-F238E27FC236}">
                <a16:creationId xmlns:a16="http://schemas.microsoft.com/office/drawing/2014/main" id="{6025DD3B-6775-4A91-8422-2428FACE3BA5}"/>
              </a:ext>
            </a:extLst>
          </p:cNvPr>
          <p:cNvSpPr>
            <a:spLocks xmlns:a="http://schemas.openxmlformats.org/drawingml/2006/main" noGrp="1"/>
          </p:cNvSpPr>
          <p:nvPr/>
        </p:nvSpPr>
        <p:spPr>
          <a:xfrm xmlns:a="http://schemas.openxmlformats.org/drawingml/2006/main">
            <a:off x="6362700" y="1885950"/>
            <a:ext cx="4762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frontend/src/pages/landlord/Properties.tsx:217-281</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Load, save, upload and submit handlers</a:t>
            </a:r>
          </a:p>
          <a:p xmlns:a="http://schemas.openxmlformats.org/drawingml/2006/main">
            <a:r>
              <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accommodations/views.py</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406-432  create landlord draft</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481-523  submit checks</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573-706  nested structure updates</a:t>
            </a:r>
          </a:p>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709-766  administrator review</a:t>
            </a:r>
          </a:p>
        </p:txBody>
      </p:sp>
      <p:sp>
        <p:nvSpPr>
          <p:cNvPr id="7" name="">
            <a:extLst xmlns:a="http://schemas.openxmlformats.org/drawingml/2006/main">
              <a:ext uri="{FF2B5EF4-FFF2-40B4-BE49-F238E27FC236}">
                <a16:creationId xmlns:a16="http://schemas.microsoft.com/office/drawing/2014/main" id="{0825E4D9-CB16-456A-A7F2-B5544396697D}"/>
              </a:ext>
            </a:extLst>
          </p:cNvPr>
          <p:cNvSpPr>
            <a:spLocks xmlns:a="http://schemas.openxmlformats.org/drawingml/2006/main" noGrp="1"/>
          </p:cNvSpPr>
          <p:nvPr/>
        </p:nvSpPr>
        <p:spPr>
          <a:xfrm xmlns:a="http://schemas.openxmlformats.org/drawingml/2006/main">
            <a:off x="742950" y="47244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75E63"/>
                </a:solidFill>
                <a:latin typeface="Arial"/>
                <a:ea typeface="Arial"/>
                <a:cs typeface="Arial"/>
              </a:defRPr>
            </a:pPr>
            <a:r>
              <a:rPr sz="1575" b="1">
                <a:solidFill>
                  <a:srgbClr val="075E63"/>
                </a:solidFill>
                <a:latin typeface="Arial"/>
                <a:ea typeface="Arial"/>
                <a:cs typeface="Arial"/>
              </a:rPr>
              <a:t>API names</a:t>
            </a:r>
          </a:p>
        </p:txBody>
      </p:sp>
      <p:sp>
        <p:nvSpPr>
          <p:cNvPr id="8" name="">
            <a:extLst xmlns:a="http://schemas.openxmlformats.org/drawingml/2006/main">
              <a:ext uri="{FF2B5EF4-FFF2-40B4-BE49-F238E27FC236}">
                <a16:creationId xmlns:a16="http://schemas.microsoft.com/office/drawing/2014/main" id="{A40CBA73-A7B6-4E88-B24A-7D16CA4B11E0}"/>
              </a:ext>
            </a:extLst>
          </p:cNvPr>
          <p:cNvSpPr>
            <a:spLocks xmlns:a="http://schemas.openxmlformats.org/drawingml/2006/main" noGrp="1"/>
          </p:cNvSpPr>
          <p:nvPr/>
        </p:nvSpPr>
        <p:spPr>
          <a:xfrm xmlns:a="http://schemas.openxmlformats.org/drawingml/2006/main">
            <a:off x="742950" y="5124450"/>
            <a:ext cx="10306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72A3A"/>
                </a:solidFill>
                <a:latin typeface="Arial"/>
                <a:ea typeface="Arial"/>
                <a:cs typeface="Arial"/>
              </a:defRPr>
            </a:pPr>
            <a:r>
              <a:rPr sz="1350" b="0">
                <a:solidFill>
                  <a:srgbClr val="172A3A"/>
                </a:solidFill>
                <a:latin typeface="Arial"/>
                <a:ea typeface="Arial"/>
                <a:cs typeface="Arial"/>
              </a:rPr>
              <a:t>api.ts:1631-1654  options, landlord properties, create/update and submit helpers</a:t>
            </a:r>
          </a:p>
        </p:txBody>
      </p:sp>
      <p:sp>
        <p:nvSpPr>
          <p:cNvPr id="9" name="">
            <a:extLst xmlns:a="http://schemas.openxmlformats.org/drawingml/2006/main">
              <a:ext uri="{FF2B5EF4-FFF2-40B4-BE49-F238E27FC236}">
                <a16:creationId xmlns:a16="http://schemas.microsoft.com/office/drawing/2014/main" id="{3D4CD0F6-EEAC-46FB-AE31-F595AC422689}"/>
              </a:ext>
            </a:extLst>
          </p:cNvPr>
          <p:cNvSpPr>
            <a:spLocks xmlns:a="http://schemas.openxmlformats.org/drawingml/2006/main" noGrp="1"/>
          </p:cNvSpPr>
          <p:nvPr/>
        </p:nvSpPr>
        <p:spPr>
          <a:xfrm xmlns:a="http://schemas.openxmlformats.org/drawingml/2006/main">
            <a:off x="685800" y="64389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526474"/>
                </a:solidFill>
                <a:latin typeface="Arial"/>
                <a:ea typeface="Arial"/>
                <a:cs typeface="Arial"/>
              </a:defRPr>
            </a:pPr>
            <a:r>
              <a:rPr sz="1050" b="0">
                <a:solidFill>
                  <a:srgbClr val="526474"/>
                </a:solidFill>
                <a:latin typeface="Arial"/>
                <a:ea typeface="Arial"/>
                <a:cs typeface="Arial"/>
              </a:rPr>
              <a:t>Route definitions: accommodations/urls.py:24-55</a:t>
            </a:r>
          </a:p>
        </p:txBody>
      </p:sp>
    </p:spTree>
    <p:extLst>
      <p:ext uri="{BB962C8B-B14F-4D97-AF65-F5344CB8AC3E}">
        <p14:creationId xmlns:p14="http://schemas.microsoft.com/office/powerpoint/2010/main" val="1314798664"/>
      </p:ext>
    </p:extLst>
  </p:cSld>
</p:sld>
</file>

<file path=ppt/slides/slide1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569A25-8856-498B-8E51-73B1B6237F87}"/>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Code map 3  Waiting list and the full assignment</a:t>
            </a:r>
          </a:p>
        </p:txBody>
      </p:sp>
      <p:sp>
        <p:nvSpPr>
          <p:cNvPr id="2" name="">
            <a:extLst xmlns:a="http://schemas.openxmlformats.org/drawingml/2006/main">
              <a:ext uri="{FF2B5EF4-FFF2-40B4-BE49-F238E27FC236}">
                <a16:creationId xmlns:a16="http://schemas.microsoft.com/office/drawing/2014/main" id="{00621C2C-35AE-440E-9B7A-CF4A2F9DCD8E}"/>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Use the named files for follow-up; the four-minute talk only walks the core search path.</a:t>
            </a:r>
          </a:p>
        </p:txBody>
      </p:sp>
      <p:sp>
        <p:nvSpPr>
          <p:cNvPr id="3" name="">
            <a:extLst xmlns:a="http://schemas.openxmlformats.org/drawingml/2006/main">
              <a:ext uri="{FF2B5EF4-FFF2-40B4-BE49-F238E27FC236}">
                <a16:creationId xmlns:a16="http://schemas.microsoft.com/office/drawing/2014/main" id="{A13A2C69-55DE-4846-B1D8-BED4DB43E926}"/>
              </a:ext>
            </a:extLst>
          </p:cNvPr>
          <p:cNvSpPr>
            <a:spLocks xmlns:a="http://schemas.openxmlformats.org/drawingml/2006/main" noGrp="1"/>
          </p:cNvSpPr>
          <p:nvPr/>
        </p:nvSpPr>
        <p:spPr>
          <a:xfrm xmlns:a="http://schemas.openxmlformats.org/drawingml/2006/main">
            <a:off x="742950" y="14668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75E63"/>
                </a:solidFill>
                <a:latin typeface="Arial"/>
                <a:ea typeface="Arial"/>
                <a:cs typeface="Arial"/>
              </a:defRPr>
            </a:pPr>
            <a:r>
              <a:rPr sz="1650" b="1">
                <a:solidFill>
                  <a:srgbClr val="075E63"/>
                </a:solidFill>
                <a:latin typeface="Arial"/>
                <a:ea typeface="Arial"/>
                <a:cs typeface="Arial"/>
              </a:rPr>
              <a:t>Waiting list and recommendations</a:t>
            </a:r>
          </a:p>
        </p:txBody>
      </p:sp>
      <p:sp>
        <p:nvSpPr>
          <p:cNvPr id="4" name="">
            <a:extLst xmlns:a="http://schemas.openxmlformats.org/drawingml/2006/main">
              <a:ext uri="{FF2B5EF4-FFF2-40B4-BE49-F238E27FC236}">
                <a16:creationId xmlns:a16="http://schemas.microsoft.com/office/drawing/2014/main" id="{BD0A6D59-CE27-4C99-BB69-969875BC29A1}"/>
              </a:ext>
            </a:extLst>
          </p:cNvPr>
          <p:cNvSpPr>
            <a:spLocks xmlns:a="http://schemas.openxmlformats.org/drawingml/2006/main" noGrp="1"/>
          </p:cNvSpPr>
          <p:nvPr/>
        </p:nvSpPr>
        <p:spPr>
          <a:xfrm xmlns:a="http://schemas.openxmlformats.org/drawingml/2006/main">
            <a:off x="742950" y="1885950"/>
            <a:ext cx="5143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waitinglist/services.py:13-78  offer selection, row locks and 48-hour offer</a:t>
            </a:r>
          </a:p>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waitinglist/views.py:49-142  student list and join</a:t>
            </a:r>
          </a:p>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waitinglist/views.py:144-238  accept or cancel</a:t>
            </a:r>
          </a:p>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frontend/src/pages/accommodation/Rooms.tsx:15-105, 190-207</a:t>
            </a:r>
          </a:p>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frontend/src/pages/student/WaitingList.tsx:11-60</a:t>
            </a:r>
          </a:p>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accommodations/views.py:272-377  rule-based recommendations</a:t>
            </a:r>
          </a:p>
        </p:txBody>
      </p:sp>
      <p:sp>
        <p:nvSpPr>
          <p:cNvPr id="5" name="">
            <a:extLst xmlns:a="http://schemas.openxmlformats.org/drawingml/2006/main">
              <a:ext uri="{FF2B5EF4-FFF2-40B4-BE49-F238E27FC236}">
                <a16:creationId xmlns:a16="http://schemas.microsoft.com/office/drawing/2014/main" id="{947A51C3-14F3-4A76-86A6-6EC5929E1EB1}"/>
              </a:ext>
            </a:extLst>
          </p:cNvPr>
          <p:cNvSpPr>
            <a:spLocks xmlns:a="http://schemas.openxmlformats.org/drawingml/2006/main" noGrp="1"/>
          </p:cNvSpPr>
          <p:nvPr/>
        </p:nvSpPr>
        <p:spPr>
          <a:xfrm xmlns:a="http://schemas.openxmlformats.org/drawingml/2006/main">
            <a:off x="6362700" y="14668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75E63"/>
                </a:solidFill>
                <a:latin typeface="Arial"/>
                <a:ea typeface="Arial"/>
                <a:cs typeface="Arial"/>
              </a:defRPr>
            </a:pPr>
            <a:r>
              <a:rPr sz="1650" b="1">
                <a:solidFill>
                  <a:srgbClr val="075E63"/>
                </a:solidFill>
                <a:latin typeface="Arial"/>
                <a:ea typeface="Arial"/>
                <a:cs typeface="Arial"/>
              </a:rPr>
              <a:t>Also assigned to Baby Thabiso</a:t>
            </a:r>
          </a:p>
        </p:txBody>
      </p:sp>
      <p:sp>
        <p:nvSpPr>
          <p:cNvPr id="6" name="">
            <a:extLst xmlns:a="http://schemas.openxmlformats.org/drawingml/2006/main">
              <a:ext uri="{FF2B5EF4-FFF2-40B4-BE49-F238E27FC236}">
                <a16:creationId xmlns:a16="http://schemas.microsoft.com/office/drawing/2014/main" id="{CE9D03C3-FCC2-4B59-80E6-8712BBAE6966}"/>
              </a:ext>
            </a:extLst>
          </p:cNvPr>
          <p:cNvSpPr>
            <a:spLocks xmlns:a="http://schemas.openxmlformats.org/drawingml/2006/main" noGrp="1"/>
          </p:cNvSpPr>
          <p:nvPr/>
        </p:nvSpPr>
        <p:spPr>
          <a:xfrm xmlns:a="http://schemas.openxmlformats.org/drawingml/2006/main">
            <a:off x="6362700" y="1885950"/>
            <a:ext cx="48577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Accommodation pages: Discovery, PropertyDetails, RoomDetails, Rooms, Map, CompareProperties, SavedProperties</a:t>
            </a:r>
          </a:p>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Other pages: student Recommendations and WaitingList; landlord Dashboard, Properties and Profile; admin Properties, PropertyReviews and WaitingList; Welcome</a:t>
            </a:r>
          </a:p>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Supporting code: AccommodationSlideshow, PropertyReviews, accommodationImages, studentPreferences</a:t>
            </a:r>
          </a:p>
          <a:p xmlns:a="http://schemas.openxmlformats.org/drawingml/2006/main">
            <a:pPr algn="l">
              <a:lnSpc>
                <a:spcPct val="108000"/>
              </a:lnSpc>
              <a:buNone/>
              <a:defRPr sz="1275" b="0">
                <a:solidFill>
                  <a:srgbClr val="172A3A"/>
                </a:solidFill>
                <a:latin typeface="Arial"/>
                <a:ea typeface="Arial"/>
                <a:cs typeface="Arial"/>
              </a:defRPr>
            </a:pPr>
            <a:r>
              <a:rPr sz="1275" b="0">
                <a:solidFill>
                  <a:srgbClr val="172A3A"/>
                </a:solidFill>
                <a:latin typeface="Arial"/>
                <a:ea typeface="Arial"/>
                <a:cs typeface="Arial"/>
              </a:rPr>
              <a:t>Backend: accommodations/**, universities/**, waitinglist/** including migrations and tests</a:t>
            </a:r>
          </a:p>
        </p:txBody>
      </p:sp>
      <p:sp>
        <p:nvSpPr>
          <p:cNvPr id="7" name="">
            <a:extLst xmlns:a="http://schemas.openxmlformats.org/drawingml/2006/main">
              <a:ext uri="{FF2B5EF4-FFF2-40B4-BE49-F238E27FC236}">
                <a16:creationId xmlns:a16="http://schemas.microsoft.com/office/drawing/2014/main" id="{47105F58-0005-460A-9509-5433D448C635}"/>
              </a:ext>
            </a:extLst>
          </p:cNvPr>
          <p:cNvSpPr>
            <a:spLocks xmlns:a="http://schemas.openxmlformats.org/drawingml/2006/main" noGrp="1"/>
          </p:cNvSpPr>
          <p:nvPr/>
        </p:nvSpPr>
        <p:spPr>
          <a:xfrm xmlns:a="http://schemas.openxmlformats.org/drawingml/2006/main">
            <a:off x="742950" y="46672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72A3A"/>
                </a:solidFill>
                <a:latin typeface="Arial"/>
                <a:ea typeface="Arial"/>
                <a:cs typeface="Arial"/>
              </a:defRPr>
            </a:pPr>
            <a:r>
              <a:rPr sz="1500" b="1">
                <a:solidFill>
                  <a:srgbClr val="172A3A"/>
                </a:solidFill>
                <a:latin typeface="Arial"/>
                <a:ea typeface="Arial"/>
                <a:cs typeface="Arial"/>
              </a:rPr>
              <a:t>Shared styling assigned in App.css</a:t>
            </a:r>
          </a:p>
        </p:txBody>
      </p:sp>
      <p:sp>
        <p:nvSpPr>
          <p:cNvPr id="8" name="">
            <a:extLst xmlns:a="http://schemas.openxmlformats.org/drawingml/2006/main">
              <a:ext uri="{FF2B5EF4-FFF2-40B4-BE49-F238E27FC236}">
                <a16:creationId xmlns:a16="http://schemas.microsoft.com/office/drawing/2014/main" id="{81ACAB8F-4EC6-493E-BA26-A58F1058549E}"/>
              </a:ext>
            </a:extLst>
          </p:cNvPr>
          <p:cNvSpPr>
            <a:spLocks xmlns:a="http://schemas.openxmlformats.org/drawingml/2006/main" noGrp="1"/>
          </p:cNvSpPr>
          <p:nvPr/>
        </p:nvSpPr>
        <p:spPr>
          <a:xfrm xmlns:a="http://schemas.openxmlformats.org/drawingml/2006/main">
            <a:off x="742950" y="50482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1079-2007, 2142-2610, 2681-3412, 7282-7635</a:t>
            </a:r>
          </a:p>
        </p:txBody>
      </p:sp>
      <p:sp>
        <p:nvSpPr>
          <p:cNvPr id="9" name="">
            <a:extLst xmlns:a="http://schemas.openxmlformats.org/drawingml/2006/main">
              <a:ext uri="{FF2B5EF4-FFF2-40B4-BE49-F238E27FC236}">
                <a16:creationId xmlns:a16="http://schemas.microsoft.com/office/drawing/2014/main" id="{2C05E58E-4E12-443E-8359-F9ED0FA5A4A9}"/>
              </a:ext>
            </a:extLst>
          </p:cNvPr>
          <p:cNvSpPr>
            <a:spLocks xmlns:a="http://schemas.openxmlformats.org/drawingml/2006/main" noGrp="1"/>
          </p:cNvSpPr>
          <p:nvPr/>
        </p:nvSpPr>
        <p:spPr>
          <a:xfrm xmlns:a="http://schemas.openxmlformats.org/drawingml/2006/main">
            <a:off x="685800" y="64389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526474"/>
                </a:solidFill>
                <a:latin typeface="Arial"/>
                <a:ea typeface="Arial"/>
                <a:cs typeface="Arial"/>
              </a:defRPr>
            </a:pPr>
            <a:r>
              <a:rPr sz="1050" b="0">
                <a:solidFill>
                  <a:srgbClr val="526474"/>
                </a:solidFill>
                <a:latin typeface="Arial"/>
                <a:ea typeface="Arial"/>
                <a:cs typeface="Arial"/>
              </a:rPr>
              <a:t>Admin wait-list screen: frontend/src/pages/admin/WaitingList.tsx:11-67  |  Shared API helpers: api.ts:595-622</a:t>
            </a:r>
          </a:p>
        </p:txBody>
      </p:sp>
    </p:spTree>
    <p:extLst>
      <p:ext uri="{BB962C8B-B14F-4D97-AF65-F5344CB8AC3E}">
        <p14:creationId xmlns:p14="http://schemas.microsoft.com/office/powerpoint/2010/main" val="455540618"/>
      </p:ext>
    </p:extLst>
  </p:cSld>
</p:sld>
</file>

<file path=ppt/slides/slide1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E0B13BC-3158-4D8C-8A08-B8F4E357348B}"/>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Lecturer questions 1-5  Search basics</a:t>
            </a:r>
          </a:p>
        </p:txBody>
      </p:sp>
      <p:sp>
        <p:nvSpPr>
          <p:cNvPr id="2" name="">
            <a:extLst xmlns:a="http://schemas.openxmlformats.org/drawingml/2006/main">
              <a:ext uri="{FF2B5EF4-FFF2-40B4-BE49-F238E27FC236}">
                <a16:creationId xmlns:a16="http://schemas.microsoft.com/office/drawing/2014/main" id="{F1DADB1D-8438-4286-8173-D0EEAE7F8B23}"/>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Difficulty: 1 Intro  |  2 Basic  |  3 Applied  |  4 Advanced  |  5 Expert</a:t>
            </a:r>
          </a:p>
        </p:txBody>
      </p:sp>
      <p:sp>
        <p:nvSpPr>
          <p:cNvPr id="3" name="">
            <a:extLst xmlns:a="http://schemas.openxmlformats.org/drawingml/2006/main">
              <a:ext uri="{FF2B5EF4-FFF2-40B4-BE49-F238E27FC236}">
                <a16:creationId xmlns:a16="http://schemas.microsoft.com/office/drawing/2014/main" id="{898A13A9-B509-4E2F-86F7-B7DFC46D4C0E}"/>
              </a:ext>
            </a:extLst>
          </p:cNvPr>
          <p:cNvSpPr>
            <a:spLocks xmlns:a="http://schemas.openxmlformats.org/drawingml/2006/main" noGrp="1"/>
          </p:cNvSpPr>
          <p:nvPr/>
        </p:nvSpPr>
        <p:spPr>
          <a:xfrm xmlns:a="http://schemas.openxmlformats.org/drawingml/2006/main">
            <a:off x="742950" y="13620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01  Walk through one search from the student page to a result card.</a:t>
            </a:r>
          </a:p>
        </p:txBody>
      </p:sp>
      <p:sp>
        <p:nvSpPr>
          <p:cNvPr id="4" name="">
            <a:extLst xmlns:a="http://schemas.openxmlformats.org/drawingml/2006/main">
              <a:ext uri="{FF2B5EF4-FFF2-40B4-BE49-F238E27FC236}">
                <a16:creationId xmlns:a16="http://schemas.microsoft.com/office/drawing/2014/main" id="{66EE3E0D-7DAE-47AF-8A94-8A68448710A7}"/>
              </a:ext>
            </a:extLst>
          </p:cNvPr>
          <p:cNvSpPr>
            <a:spLocks xmlns:a="http://schemas.openxmlformats.org/drawingml/2006/main" noGrp="1"/>
          </p:cNvSpPr>
          <p:nvPr/>
        </p:nvSpPr>
        <p:spPr>
          <a:xfrm xmlns:a="http://schemas.openxmlformats.org/drawingml/2006/main">
            <a:off x="10591800" y="13620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2/5 Basic</a:t>
            </a:r>
          </a:p>
        </p:txBody>
      </p:sp>
      <p:sp>
        <p:nvSpPr>
          <p:cNvPr id="5" name="">
            <a:extLst xmlns:a="http://schemas.openxmlformats.org/drawingml/2006/main">
              <a:ext uri="{FF2B5EF4-FFF2-40B4-BE49-F238E27FC236}">
                <a16:creationId xmlns:a16="http://schemas.microsoft.com/office/drawing/2014/main" id="{3954038D-4DFB-4C7B-84CD-996BFEE40E93}"/>
              </a:ext>
            </a:extLst>
          </p:cNvPr>
          <p:cNvSpPr>
            <a:spLocks xmlns:a="http://schemas.openxmlformats.org/drawingml/2006/main" noGrp="1"/>
          </p:cNvSpPr>
          <p:nvPr/>
        </p:nvSpPr>
        <p:spPr>
          <a:xfrm xmlns:a="http://schemas.openxmlformats.org/drawingml/2006/main">
            <a:off x="942975" y="16859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Discovery calls getProperties; Django filters approved records, PropertySerializer returns JSON, and React maps it to cards.</a:t>
            </a:r>
          </a:p>
        </p:txBody>
      </p:sp>
      <p:sp>
        <p:nvSpPr>
          <p:cNvPr id="6" name="">
            <a:extLst xmlns:a="http://schemas.openxmlformats.org/drawingml/2006/main">
              <a:ext uri="{FF2B5EF4-FFF2-40B4-BE49-F238E27FC236}">
                <a16:creationId xmlns:a16="http://schemas.microsoft.com/office/drawing/2014/main" id="{D19EC27A-AA89-4666-B803-13561A57247A}"/>
              </a:ext>
            </a:extLst>
          </p:cNvPr>
          <p:cNvSpPr>
            <a:spLocks xmlns:a="http://schemas.openxmlformats.org/drawingml/2006/main" noGrp="1"/>
          </p:cNvSpPr>
          <p:nvPr/>
        </p:nvSpPr>
        <p:spPr>
          <a:xfrm xmlns:a="http://schemas.openxmlformats.org/drawingml/2006/main">
            <a:off x="742950" y="23526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02  Why keep the request helper in api.ts instead of fetching in every page?</a:t>
            </a:r>
          </a:p>
        </p:txBody>
      </p:sp>
      <p:sp>
        <p:nvSpPr>
          <p:cNvPr id="7" name="">
            <a:extLst xmlns:a="http://schemas.openxmlformats.org/drawingml/2006/main">
              <a:ext uri="{FF2B5EF4-FFF2-40B4-BE49-F238E27FC236}">
                <a16:creationId xmlns:a16="http://schemas.microsoft.com/office/drawing/2014/main" id="{A6DEEC05-F5B8-41FE-B0E7-C59442E94BE3}"/>
              </a:ext>
            </a:extLst>
          </p:cNvPr>
          <p:cNvSpPr>
            <a:spLocks xmlns:a="http://schemas.openxmlformats.org/drawingml/2006/main" noGrp="1"/>
          </p:cNvSpPr>
          <p:nvPr/>
        </p:nvSpPr>
        <p:spPr>
          <a:xfrm xmlns:a="http://schemas.openxmlformats.org/drawingml/2006/main">
            <a:off x="10591800" y="23526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2/5 Basic</a:t>
            </a:r>
          </a:p>
        </p:txBody>
      </p:sp>
      <p:sp>
        <p:nvSpPr>
          <p:cNvPr id="8" name="">
            <a:extLst xmlns:a="http://schemas.openxmlformats.org/drawingml/2006/main">
              <a:ext uri="{FF2B5EF4-FFF2-40B4-BE49-F238E27FC236}">
                <a16:creationId xmlns:a16="http://schemas.microsoft.com/office/drawing/2014/main" id="{AA628E14-D821-4FEE-9A10-0E6109E010A4}"/>
              </a:ext>
            </a:extLst>
          </p:cNvPr>
          <p:cNvSpPr>
            <a:spLocks xmlns:a="http://schemas.openxmlformats.org/drawingml/2006/main" noGrp="1"/>
          </p:cNvSpPr>
          <p:nvPr/>
        </p:nvSpPr>
        <p:spPr>
          <a:xfrm xmlns:a="http://schemas.openxmlformats.org/drawingml/2006/main">
            <a:off x="942975" y="26765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It centralizes URL construction, response parsing and error handling so pages call a reusable feature function.</a:t>
            </a:r>
          </a:p>
        </p:txBody>
      </p:sp>
      <p:sp>
        <p:nvSpPr>
          <p:cNvPr id="9" name="">
            <a:extLst xmlns:a="http://schemas.openxmlformats.org/drawingml/2006/main">
              <a:ext uri="{FF2B5EF4-FFF2-40B4-BE49-F238E27FC236}">
                <a16:creationId xmlns:a16="http://schemas.microsoft.com/office/drawing/2014/main" id="{DB33A399-6B3F-4A09-B548-8EA44DBFCB22}"/>
              </a:ext>
            </a:extLst>
          </p:cNvPr>
          <p:cNvSpPr>
            <a:spLocks xmlns:a="http://schemas.openxmlformats.org/drawingml/2006/main" noGrp="1"/>
          </p:cNvSpPr>
          <p:nvPr/>
        </p:nvSpPr>
        <p:spPr>
          <a:xfrm xmlns:a="http://schemas.openxmlformats.org/drawingml/2006/main">
            <a:off x="742950" y="33432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03  What happens when the property request fails?</a:t>
            </a:r>
          </a:p>
        </p:txBody>
      </p:sp>
      <p:sp>
        <p:nvSpPr>
          <p:cNvPr id="10" name="">
            <a:extLst xmlns:a="http://schemas.openxmlformats.org/drawingml/2006/main">
              <a:ext uri="{FF2B5EF4-FFF2-40B4-BE49-F238E27FC236}">
                <a16:creationId xmlns:a16="http://schemas.microsoft.com/office/drawing/2014/main" id="{212E8835-CFBB-41F5-8688-3CBD965FD39B}"/>
              </a:ext>
            </a:extLst>
          </p:cNvPr>
          <p:cNvSpPr>
            <a:spLocks xmlns:a="http://schemas.openxmlformats.org/drawingml/2006/main" noGrp="1"/>
          </p:cNvSpPr>
          <p:nvPr/>
        </p:nvSpPr>
        <p:spPr>
          <a:xfrm xmlns:a="http://schemas.openxmlformats.org/drawingml/2006/main">
            <a:off x="10591800" y="33432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2/5 Basic</a:t>
            </a:r>
          </a:p>
        </p:txBody>
      </p:sp>
      <p:sp>
        <p:nvSpPr>
          <p:cNvPr id="11" name="">
            <a:extLst xmlns:a="http://schemas.openxmlformats.org/drawingml/2006/main">
              <a:ext uri="{FF2B5EF4-FFF2-40B4-BE49-F238E27FC236}">
                <a16:creationId xmlns:a16="http://schemas.microsoft.com/office/drawing/2014/main" id="{DD96E719-D5D5-447D-801A-6D8C5E41CB23}"/>
              </a:ext>
            </a:extLst>
          </p:cNvPr>
          <p:cNvSpPr>
            <a:spLocks xmlns:a="http://schemas.openxmlformats.org/drawingml/2006/main" noGrp="1"/>
          </p:cNvSpPr>
          <p:nvPr/>
        </p:nvSpPr>
        <p:spPr>
          <a:xfrm xmlns:a="http://schemas.openxmlformats.org/drawingml/2006/main">
            <a:off x="942975" y="36671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The helper throws the server message; Discovery catches it, displays an error and clears loading in finally.</a:t>
            </a:r>
          </a:p>
        </p:txBody>
      </p:sp>
      <p:sp>
        <p:nvSpPr>
          <p:cNvPr id="12" name="">
            <a:extLst xmlns:a="http://schemas.openxmlformats.org/drawingml/2006/main">
              <a:ext uri="{FF2B5EF4-FFF2-40B4-BE49-F238E27FC236}">
                <a16:creationId xmlns:a16="http://schemas.microsoft.com/office/drawing/2014/main" id="{DAD92FD8-E921-400B-A0C8-0FEB03FE9420}"/>
              </a:ext>
            </a:extLst>
          </p:cNvPr>
          <p:cNvSpPr>
            <a:spLocks xmlns:a="http://schemas.openxmlformats.org/drawingml/2006/main" noGrp="1"/>
          </p:cNvSpPr>
          <p:nvPr/>
        </p:nvSpPr>
        <p:spPr>
          <a:xfrm xmlns:a="http://schemas.openxmlformats.org/drawingml/2006/main">
            <a:off x="742950" y="43338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04  Does typing a search term immediately send a request?</a:t>
            </a:r>
          </a:p>
        </p:txBody>
      </p:sp>
      <p:sp>
        <p:nvSpPr>
          <p:cNvPr id="13" name="">
            <a:extLst xmlns:a="http://schemas.openxmlformats.org/drawingml/2006/main">
              <a:ext uri="{FF2B5EF4-FFF2-40B4-BE49-F238E27FC236}">
                <a16:creationId xmlns:a16="http://schemas.microsoft.com/office/drawing/2014/main" id="{FA155DDB-F3AF-4ABD-9552-A3C5A11EF32C}"/>
              </a:ext>
            </a:extLst>
          </p:cNvPr>
          <p:cNvSpPr>
            <a:spLocks xmlns:a="http://schemas.openxmlformats.org/drawingml/2006/main" noGrp="1"/>
          </p:cNvSpPr>
          <p:nvPr/>
        </p:nvSpPr>
        <p:spPr>
          <a:xfrm xmlns:a="http://schemas.openxmlformats.org/drawingml/2006/main">
            <a:off x="10591800" y="43338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3/5 Applied</a:t>
            </a:r>
          </a:p>
        </p:txBody>
      </p:sp>
      <p:sp>
        <p:nvSpPr>
          <p:cNvPr id="14" name="">
            <a:extLst xmlns:a="http://schemas.openxmlformats.org/drawingml/2006/main">
              <a:ext uri="{FF2B5EF4-FFF2-40B4-BE49-F238E27FC236}">
                <a16:creationId xmlns:a16="http://schemas.microsoft.com/office/drawing/2014/main" id="{12A14115-52D6-4AA0-AFCD-28B8F192F262}"/>
              </a:ext>
            </a:extLst>
          </p:cNvPr>
          <p:cNvSpPr>
            <a:spLocks xmlns:a="http://schemas.openxmlformats.org/drawingml/2006/main" noGrp="1"/>
          </p:cNvSpPr>
          <p:nvPr/>
        </p:nvSpPr>
        <p:spPr>
          <a:xfrm xmlns:a="http://schemas.openxmlformats.org/drawingml/2006/main">
            <a:off x="942975" y="46577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No. The search form submits it. Sort, type and max-price changes trigger the effect that reloads results.</a:t>
            </a:r>
          </a:p>
        </p:txBody>
      </p:sp>
      <p:sp>
        <p:nvSpPr>
          <p:cNvPr id="15" name="">
            <a:extLst xmlns:a="http://schemas.openxmlformats.org/drawingml/2006/main">
              <a:ext uri="{FF2B5EF4-FFF2-40B4-BE49-F238E27FC236}">
                <a16:creationId xmlns:a16="http://schemas.microsoft.com/office/drawing/2014/main" id="{ED20A726-06B5-464B-94A7-56E06773A012}"/>
              </a:ext>
            </a:extLst>
          </p:cNvPr>
          <p:cNvSpPr>
            <a:spLocks xmlns:a="http://schemas.openxmlformats.org/drawingml/2006/main" noGrp="1"/>
          </p:cNvSpPr>
          <p:nvPr/>
        </p:nvSpPr>
        <p:spPr>
          <a:xfrm xmlns:a="http://schemas.openxmlformats.org/drawingml/2006/main">
            <a:off x="742950" y="53244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05  What does the property result card show?</a:t>
            </a:r>
          </a:p>
        </p:txBody>
      </p:sp>
      <p:sp>
        <p:nvSpPr>
          <p:cNvPr id="16" name="">
            <a:extLst xmlns:a="http://schemas.openxmlformats.org/drawingml/2006/main">
              <a:ext uri="{FF2B5EF4-FFF2-40B4-BE49-F238E27FC236}">
                <a16:creationId xmlns:a16="http://schemas.microsoft.com/office/drawing/2014/main" id="{D98012E8-BEBA-4CC4-B260-DF1D57FF73FF}"/>
              </a:ext>
            </a:extLst>
          </p:cNvPr>
          <p:cNvSpPr>
            <a:spLocks xmlns:a="http://schemas.openxmlformats.org/drawingml/2006/main" noGrp="1"/>
          </p:cNvSpPr>
          <p:nvPr/>
        </p:nvSpPr>
        <p:spPr>
          <a:xfrm xmlns:a="http://schemas.openxmlformats.org/drawingml/2006/main">
            <a:off x="10591800" y="53244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1/5 Intro</a:t>
            </a:r>
          </a:p>
        </p:txBody>
      </p:sp>
      <p:sp>
        <p:nvSpPr>
          <p:cNvPr id="17" name="">
            <a:extLst xmlns:a="http://schemas.openxmlformats.org/drawingml/2006/main">
              <a:ext uri="{FF2B5EF4-FFF2-40B4-BE49-F238E27FC236}">
                <a16:creationId xmlns:a16="http://schemas.microsoft.com/office/drawing/2014/main" id="{6E825AF9-0C53-45C0-AB23-6B0264193705}"/>
              </a:ext>
            </a:extLst>
          </p:cNvPr>
          <p:cNvSpPr>
            <a:spLocks xmlns:a="http://schemas.openxmlformats.org/drawingml/2006/main" noGrp="1"/>
          </p:cNvSpPr>
          <p:nvPr/>
        </p:nvSpPr>
        <p:spPr>
          <a:xfrm xmlns:a="http://schemas.openxmlformats.org/drawingml/2006/main">
            <a:off x="942975" y="56483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Location, price, distance, rooms, beds, available room types, amenities, rating, image, save and compare actions.</a:t>
            </a:r>
          </a:p>
        </p:txBody>
      </p:sp>
    </p:spTree>
    <p:extLst>
      <p:ext uri="{BB962C8B-B14F-4D97-AF65-F5344CB8AC3E}">
        <p14:creationId xmlns:p14="http://schemas.microsoft.com/office/powerpoint/2010/main" val="463541149"/>
      </p:ext>
    </p:extLst>
  </p:cSld>
</p:sld>
</file>

<file path=ppt/slides/slide1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2E8BF80-A2D1-4D2D-8056-EEBCE7956AFD}"/>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Lecturer questions 6-10  Filters and queries</a:t>
            </a:r>
          </a:p>
        </p:txBody>
      </p:sp>
      <p:sp>
        <p:nvSpPr>
          <p:cNvPr id="2" name="">
            <a:extLst xmlns:a="http://schemas.openxmlformats.org/drawingml/2006/main">
              <a:ext uri="{FF2B5EF4-FFF2-40B4-BE49-F238E27FC236}">
                <a16:creationId xmlns:a16="http://schemas.microsoft.com/office/drawing/2014/main" id="{7E779E15-6A47-4958-BA12-D978247A157D}"/>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Difficulty: 1 Intro  |  2 Basic  |  3 Applied  |  4 Advanced  |  5 Expert</a:t>
            </a:r>
          </a:p>
        </p:txBody>
      </p:sp>
      <p:sp>
        <p:nvSpPr>
          <p:cNvPr id="3" name="">
            <a:extLst xmlns:a="http://schemas.openxmlformats.org/drawingml/2006/main">
              <a:ext uri="{FF2B5EF4-FFF2-40B4-BE49-F238E27FC236}">
                <a16:creationId xmlns:a16="http://schemas.microsoft.com/office/drawing/2014/main" id="{E97AF96B-B92D-47B4-9478-EF19926CA702}"/>
              </a:ext>
            </a:extLst>
          </p:cNvPr>
          <p:cNvSpPr>
            <a:spLocks xmlns:a="http://schemas.openxmlformats.org/drawingml/2006/main" noGrp="1"/>
          </p:cNvSpPr>
          <p:nvPr/>
        </p:nvSpPr>
        <p:spPr>
          <a:xfrm xmlns:a="http://schemas.openxmlformats.org/drawingml/2006/main">
            <a:off x="742950" y="13620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06  Which filters and sorts does the backend support?</a:t>
            </a:r>
          </a:p>
        </p:txBody>
      </p:sp>
      <p:sp>
        <p:nvSpPr>
          <p:cNvPr id="4" name="">
            <a:extLst xmlns:a="http://schemas.openxmlformats.org/drawingml/2006/main">
              <a:ext uri="{FF2B5EF4-FFF2-40B4-BE49-F238E27FC236}">
                <a16:creationId xmlns:a16="http://schemas.microsoft.com/office/drawing/2014/main" id="{2A435B2D-FAA5-4ADA-B569-8B1EB47DAA4C}"/>
              </a:ext>
            </a:extLst>
          </p:cNvPr>
          <p:cNvSpPr>
            <a:spLocks xmlns:a="http://schemas.openxmlformats.org/drawingml/2006/main" noGrp="1"/>
          </p:cNvSpPr>
          <p:nvPr/>
        </p:nvSpPr>
        <p:spPr>
          <a:xfrm xmlns:a="http://schemas.openxmlformats.org/drawingml/2006/main">
            <a:off x="10591800" y="13620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3/5 Applied</a:t>
            </a:r>
          </a:p>
        </p:txBody>
      </p:sp>
      <p:sp>
        <p:nvSpPr>
          <p:cNvPr id="5" name="">
            <a:extLst xmlns:a="http://schemas.openxmlformats.org/drawingml/2006/main">
              <a:ext uri="{FF2B5EF4-FFF2-40B4-BE49-F238E27FC236}">
                <a16:creationId xmlns:a16="http://schemas.microsoft.com/office/drawing/2014/main" id="{7C8B834F-E81F-45BE-8E68-1E11E5CA1E05}"/>
              </a:ext>
            </a:extLst>
          </p:cNvPr>
          <p:cNvSpPr>
            <a:spLocks xmlns:a="http://schemas.openxmlformats.org/drawingml/2006/main" noGrp="1"/>
          </p:cNvSpPr>
          <p:nvPr/>
        </p:nvSpPr>
        <p:spPr>
          <a:xfrm xmlns:a="http://schemas.openxmlformats.org/drawingml/2006/main">
            <a:off x="942975" y="16859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Search, university, property type and max price; sort by price, rating or stored campus distance, with rating/price as default.</a:t>
            </a:r>
          </a:p>
        </p:txBody>
      </p:sp>
      <p:sp>
        <p:nvSpPr>
          <p:cNvPr id="6" name="">
            <a:extLst xmlns:a="http://schemas.openxmlformats.org/drawingml/2006/main">
              <a:ext uri="{FF2B5EF4-FFF2-40B4-BE49-F238E27FC236}">
                <a16:creationId xmlns:a16="http://schemas.microsoft.com/office/drawing/2014/main" id="{6AEE4D6C-69FA-4E3F-8936-AD2D1A7FB4E4}"/>
              </a:ext>
            </a:extLst>
          </p:cNvPr>
          <p:cNvSpPr>
            <a:spLocks xmlns:a="http://schemas.openxmlformats.org/drawingml/2006/main" noGrp="1"/>
          </p:cNvSpPr>
          <p:nvPr/>
        </p:nvSpPr>
        <p:spPr>
          <a:xfrm xmlns:a="http://schemas.openxmlformats.org/drawingml/2006/main">
            <a:off x="742950" y="23526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07  Why can an unauthenticated visitor browse properties?</a:t>
            </a:r>
          </a:p>
        </p:txBody>
      </p:sp>
      <p:sp>
        <p:nvSpPr>
          <p:cNvPr id="7" name="">
            <a:extLst xmlns:a="http://schemas.openxmlformats.org/drawingml/2006/main">
              <a:ext uri="{FF2B5EF4-FFF2-40B4-BE49-F238E27FC236}">
                <a16:creationId xmlns:a16="http://schemas.microsoft.com/office/drawing/2014/main" id="{DF1AB7C7-EF71-4597-B10D-E10104525C69}"/>
              </a:ext>
            </a:extLst>
          </p:cNvPr>
          <p:cNvSpPr>
            <a:spLocks xmlns:a="http://schemas.openxmlformats.org/drawingml/2006/main" noGrp="1"/>
          </p:cNvSpPr>
          <p:nvPr/>
        </p:nvSpPr>
        <p:spPr>
          <a:xfrm xmlns:a="http://schemas.openxmlformats.org/drawingml/2006/main">
            <a:off x="10591800" y="23526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3/5 Applied</a:t>
            </a:r>
          </a:p>
        </p:txBody>
      </p:sp>
      <p:sp>
        <p:nvSpPr>
          <p:cNvPr id="8" name="">
            <a:extLst xmlns:a="http://schemas.openxmlformats.org/drawingml/2006/main">
              <a:ext uri="{FF2B5EF4-FFF2-40B4-BE49-F238E27FC236}">
                <a16:creationId xmlns:a16="http://schemas.microsoft.com/office/drawing/2014/main" id="{6574074B-86A8-4EF5-ABA7-F40B55A38DCD}"/>
              </a:ext>
            </a:extLst>
          </p:cNvPr>
          <p:cNvSpPr>
            <a:spLocks xmlns:a="http://schemas.openxmlformats.org/drawingml/2006/main" noGrp="1"/>
          </p:cNvSpPr>
          <p:nvPr/>
        </p:nvSpPr>
        <p:spPr>
          <a:xfrm xmlns:a="http://schemas.openxmlformats.org/drawingml/2006/main">
            <a:off x="942975" y="26765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The public list view uses AllowAny, but its base queryset is restricted to approved listings and a student-facing serializer.</a:t>
            </a:r>
          </a:p>
        </p:txBody>
      </p:sp>
      <p:sp>
        <p:nvSpPr>
          <p:cNvPr id="9" name="">
            <a:extLst xmlns:a="http://schemas.openxmlformats.org/drawingml/2006/main">
              <a:ext uri="{FF2B5EF4-FFF2-40B4-BE49-F238E27FC236}">
                <a16:creationId xmlns:a16="http://schemas.microsoft.com/office/drawing/2014/main" id="{77DE2CB8-D8BC-4DA9-817F-267873CFCA39}"/>
              </a:ext>
            </a:extLst>
          </p:cNvPr>
          <p:cNvSpPr>
            <a:spLocks xmlns:a="http://schemas.openxmlformats.org/drawingml/2006/main" noGrp="1"/>
          </p:cNvSpPr>
          <p:nvPr/>
        </p:nvSpPr>
        <p:spPr>
          <a:xfrm xmlns:a="http://schemas.openxmlformats.org/drawingml/2006/main">
            <a:off x="742950" y="33432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08  How are drafts and demo listings kept out of normal search?</a:t>
            </a:r>
          </a:p>
        </p:txBody>
      </p:sp>
      <p:sp>
        <p:nvSpPr>
          <p:cNvPr id="10" name="">
            <a:extLst xmlns:a="http://schemas.openxmlformats.org/drawingml/2006/main">
              <a:ext uri="{FF2B5EF4-FFF2-40B4-BE49-F238E27FC236}">
                <a16:creationId xmlns:a16="http://schemas.microsoft.com/office/drawing/2014/main" id="{2E2FB928-644A-4735-848C-26A0BDA28991}"/>
              </a:ext>
            </a:extLst>
          </p:cNvPr>
          <p:cNvSpPr>
            <a:spLocks xmlns:a="http://schemas.openxmlformats.org/drawingml/2006/main" noGrp="1"/>
          </p:cNvSpPr>
          <p:nvPr/>
        </p:nvSpPr>
        <p:spPr>
          <a:xfrm xmlns:a="http://schemas.openxmlformats.org/drawingml/2006/main">
            <a:off x="10591800" y="33432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3/5 Applied</a:t>
            </a:r>
          </a:p>
        </p:txBody>
      </p:sp>
      <p:sp>
        <p:nvSpPr>
          <p:cNvPr id="11" name="">
            <a:extLst xmlns:a="http://schemas.openxmlformats.org/drawingml/2006/main">
              <a:ext uri="{FF2B5EF4-FFF2-40B4-BE49-F238E27FC236}">
                <a16:creationId xmlns:a16="http://schemas.microsoft.com/office/drawing/2014/main" id="{B05CBF67-5479-4556-9848-A4B59268B9B4}"/>
              </a:ext>
            </a:extLst>
          </p:cNvPr>
          <p:cNvSpPr>
            <a:spLocks xmlns:a="http://schemas.openxmlformats.org/drawingml/2006/main" noGrp="1"/>
          </p:cNvSpPr>
          <p:nvPr/>
        </p:nvSpPr>
        <p:spPr>
          <a:xfrm xmlns:a="http://schemas.openxmlformats.org/drawingml/2006/main">
            <a:off x="942975" y="36671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The list filters to APPROVED. The demo helper hides demo records unless Django DEBUG is enabled.</a:t>
            </a:r>
          </a:p>
        </p:txBody>
      </p:sp>
      <p:sp>
        <p:nvSpPr>
          <p:cNvPr id="12" name="">
            <a:extLst xmlns:a="http://schemas.openxmlformats.org/drawingml/2006/main">
              <a:ext uri="{FF2B5EF4-FFF2-40B4-BE49-F238E27FC236}">
                <a16:creationId xmlns:a16="http://schemas.microsoft.com/office/drawing/2014/main" id="{7078CF1B-4393-4C8A-A7BE-A0CA5E1BB96B}"/>
              </a:ext>
            </a:extLst>
          </p:cNvPr>
          <p:cNvSpPr>
            <a:spLocks xmlns:a="http://schemas.openxmlformats.org/drawingml/2006/main" noGrp="1"/>
          </p:cNvSpPr>
          <p:nvPr/>
        </p:nvSpPr>
        <p:spPr>
          <a:xfrm xmlns:a="http://schemas.openxmlformats.org/drawingml/2006/main">
            <a:off x="742950" y="43338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09  What happens if max_price contains text instead of a number?</a:t>
            </a:r>
          </a:p>
        </p:txBody>
      </p:sp>
      <p:sp>
        <p:nvSpPr>
          <p:cNvPr id="13" name="">
            <a:extLst xmlns:a="http://schemas.openxmlformats.org/drawingml/2006/main">
              <a:ext uri="{FF2B5EF4-FFF2-40B4-BE49-F238E27FC236}">
                <a16:creationId xmlns:a16="http://schemas.microsoft.com/office/drawing/2014/main" id="{C9E82BD5-F962-4889-9983-19BC5FEBE538}"/>
              </a:ext>
            </a:extLst>
          </p:cNvPr>
          <p:cNvSpPr>
            <a:spLocks xmlns:a="http://schemas.openxmlformats.org/drawingml/2006/main" noGrp="1"/>
          </p:cNvSpPr>
          <p:nvPr/>
        </p:nvSpPr>
        <p:spPr>
          <a:xfrm xmlns:a="http://schemas.openxmlformats.org/drawingml/2006/main">
            <a:off x="10591800" y="43338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18"/>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4/5 Advanced</a:t>
            </a:r>
          </a:p>
        </p:txBody>
      </p:sp>
      <p:sp>
        <p:nvSpPr>
          <p:cNvPr id="14" name="">
            <a:extLst xmlns:a="http://schemas.openxmlformats.org/drawingml/2006/main">
              <a:ext uri="{FF2B5EF4-FFF2-40B4-BE49-F238E27FC236}">
                <a16:creationId xmlns:a16="http://schemas.microsoft.com/office/drawing/2014/main" id="{F585C480-C4FF-48E2-8D46-BD5BD364E88B}"/>
              </a:ext>
            </a:extLst>
          </p:cNvPr>
          <p:cNvSpPr>
            <a:spLocks xmlns:a="http://schemas.openxmlformats.org/drawingml/2006/main" noGrp="1"/>
          </p:cNvSpPr>
          <p:nvPr/>
        </p:nvSpPr>
        <p:spPr>
          <a:xfrm xmlns:a="http://schemas.openxmlformats.org/drawingml/2006/main">
            <a:off x="942975" y="46577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The view catches ValueError and leaves the queryset unchanged, so the price filter is ignored. Returning a validation error would be clearer.</a:t>
            </a:r>
          </a:p>
        </p:txBody>
      </p:sp>
      <p:sp>
        <p:nvSpPr>
          <p:cNvPr id="15" name="">
            <a:extLst xmlns:a="http://schemas.openxmlformats.org/drawingml/2006/main">
              <a:ext uri="{FF2B5EF4-FFF2-40B4-BE49-F238E27FC236}">
                <a16:creationId xmlns:a16="http://schemas.microsoft.com/office/drawing/2014/main" id="{6FAD4EE7-7B38-42D4-9692-1BB4E97B366F}"/>
              </a:ext>
            </a:extLst>
          </p:cNvPr>
          <p:cNvSpPr>
            <a:spLocks xmlns:a="http://schemas.openxmlformats.org/drawingml/2006/main" noGrp="1"/>
          </p:cNvSpPr>
          <p:nvPr/>
        </p:nvSpPr>
        <p:spPr>
          <a:xfrm xmlns:a="http://schemas.openxmlformats.org/drawingml/2006/main">
            <a:off x="742950" y="53244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10  Why use select_related and prefetch_related?</a:t>
            </a:r>
          </a:p>
        </p:txBody>
      </p:sp>
      <p:sp>
        <p:nvSpPr>
          <p:cNvPr id="16" name="">
            <a:extLst xmlns:a="http://schemas.openxmlformats.org/drawingml/2006/main">
              <a:ext uri="{FF2B5EF4-FFF2-40B4-BE49-F238E27FC236}">
                <a16:creationId xmlns:a16="http://schemas.microsoft.com/office/drawing/2014/main" id="{75ABE0D0-B815-45E3-A632-BD9ABC7842A3}"/>
              </a:ext>
            </a:extLst>
          </p:cNvPr>
          <p:cNvSpPr>
            <a:spLocks xmlns:a="http://schemas.openxmlformats.org/drawingml/2006/main" noGrp="1"/>
          </p:cNvSpPr>
          <p:nvPr/>
        </p:nvSpPr>
        <p:spPr>
          <a:xfrm xmlns:a="http://schemas.openxmlformats.org/drawingml/2006/main">
            <a:off x="10591800" y="53244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18"/>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4/5 Advanced</a:t>
            </a:r>
          </a:p>
        </p:txBody>
      </p:sp>
      <p:sp>
        <p:nvSpPr>
          <p:cNvPr id="17" name="">
            <a:extLst xmlns:a="http://schemas.openxmlformats.org/drawingml/2006/main">
              <a:ext uri="{FF2B5EF4-FFF2-40B4-BE49-F238E27FC236}">
                <a16:creationId xmlns:a16="http://schemas.microsoft.com/office/drawing/2014/main" id="{F811E2F6-B5AB-4631-94F7-9C8B1FEFA9D0}"/>
              </a:ext>
            </a:extLst>
          </p:cNvPr>
          <p:cNvSpPr>
            <a:spLocks xmlns:a="http://schemas.openxmlformats.org/drawingml/2006/main" noGrp="1"/>
          </p:cNvSpPr>
          <p:nvPr/>
        </p:nvSpPr>
        <p:spPr>
          <a:xfrm xmlns:a="http://schemas.openxmlformats.org/drawingml/2006/main">
            <a:off x="942975" y="56483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They preload related records and reduce repeated queries; serializer count methods still issue queries, so profile before scaling.</a:t>
            </a:r>
          </a:p>
        </p:txBody>
      </p:sp>
    </p:spTree>
    <p:extLst>
      <p:ext uri="{BB962C8B-B14F-4D97-AF65-F5344CB8AC3E}">
        <p14:creationId xmlns:p14="http://schemas.microsoft.com/office/powerpoint/2010/main" val="625474123"/>
      </p:ext>
    </p:extLst>
  </p:cSld>
</p:sld>
</file>

<file path=ppt/slides/slide1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BA3DBA9-0160-4DB9-95EA-5A8762C229FB}"/>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Lecturer questions 11-15  Data and serializers</a:t>
            </a:r>
          </a:p>
        </p:txBody>
      </p:sp>
      <p:sp>
        <p:nvSpPr>
          <p:cNvPr id="2" name="">
            <a:extLst xmlns:a="http://schemas.openxmlformats.org/drawingml/2006/main">
              <a:ext uri="{FF2B5EF4-FFF2-40B4-BE49-F238E27FC236}">
                <a16:creationId xmlns:a16="http://schemas.microsoft.com/office/drawing/2014/main" id="{68AE210D-834A-4657-B2A3-4E4A81281233}"/>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Difficulty: 1 Intro  |  2 Basic  |  3 Applied  |  4 Advanced  |  5 Expert</a:t>
            </a:r>
          </a:p>
        </p:txBody>
      </p:sp>
      <p:sp>
        <p:nvSpPr>
          <p:cNvPr id="3" name="">
            <a:extLst xmlns:a="http://schemas.openxmlformats.org/drawingml/2006/main">
              <a:ext uri="{FF2B5EF4-FFF2-40B4-BE49-F238E27FC236}">
                <a16:creationId xmlns:a16="http://schemas.microsoft.com/office/drawing/2014/main" id="{6318D589-519D-4399-9FC7-E2536781B8DC}"/>
              </a:ext>
            </a:extLst>
          </p:cNvPr>
          <p:cNvSpPr>
            <a:spLocks xmlns:a="http://schemas.openxmlformats.org/drawingml/2006/main" noGrp="1"/>
          </p:cNvSpPr>
          <p:nvPr/>
        </p:nvSpPr>
        <p:spPr>
          <a:xfrm xmlns:a="http://schemas.openxmlformats.org/drawingml/2006/main">
            <a:off x="742950" y="13620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11  What is a serializer doing in this feature?</a:t>
            </a:r>
          </a:p>
        </p:txBody>
      </p:sp>
      <p:sp>
        <p:nvSpPr>
          <p:cNvPr id="4" name="">
            <a:extLst xmlns:a="http://schemas.openxmlformats.org/drawingml/2006/main">
              <a:ext uri="{FF2B5EF4-FFF2-40B4-BE49-F238E27FC236}">
                <a16:creationId xmlns:a16="http://schemas.microsoft.com/office/drawing/2014/main" id="{89748E85-81A7-4DCF-9AF9-BFE35C585D89}"/>
              </a:ext>
            </a:extLst>
          </p:cNvPr>
          <p:cNvSpPr>
            <a:spLocks xmlns:a="http://schemas.openxmlformats.org/drawingml/2006/main" noGrp="1"/>
          </p:cNvSpPr>
          <p:nvPr/>
        </p:nvSpPr>
        <p:spPr>
          <a:xfrm xmlns:a="http://schemas.openxmlformats.org/drawingml/2006/main">
            <a:off x="10591800" y="13620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3/5 Applied</a:t>
            </a:r>
          </a:p>
        </p:txBody>
      </p:sp>
      <p:sp>
        <p:nvSpPr>
          <p:cNvPr id="5" name="">
            <a:extLst xmlns:a="http://schemas.openxmlformats.org/drawingml/2006/main">
              <a:ext uri="{FF2B5EF4-FFF2-40B4-BE49-F238E27FC236}">
                <a16:creationId xmlns:a16="http://schemas.microsoft.com/office/drawing/2014/main" id="{4646B97D-E447-487D-9E10-DAC4C3F29921}"/>
              </a:ext>
            </a:extLst>
          </p:cNvPr>
          <p:cNvSpPr>
            <a:spLocks xmlns:a="http://schemas.openxmlformats.org/drawingml/2006/main" noGrp="1"/>
          </p:cNvSpPr>
          <p:nvPr/>
        </p:nvSpPr>
        <p:spPr>
          <a:xfrm xmlns:a="http://schemas.openxmlformats.org/drawingml/2006/main">
            <a:off x="942975" y="16859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It converts model records into the JSON shape the page uses, including nested rooms, images and amenities.</a:t>
            </a:r>
          </a:p>
        </p:txBody>
      </p:sp>
      <p:sp>
        <p:nvSpPr>
          <p:cNvPr id="6" name="">
            <a:extLst xmlns:a="http://schemas.openxmlformats.org/drawingml/2006/main">
              <a:ext uri="{FF2B5EF4-FFF2-40B4-BE49-F238E27FC236}">
                <a16:creationId xmlns:a16="http://schemas.microsoft.com/office/drawing/2014/main" id="{179548BF-417C-4941-902E-22525C00D747}"/>
              </a:ext>
            </a:extLst>
          </p:cNvPr>
          <p:cNvSpPr>
            <a:spLocks xmlns:a="http://schemas.openxmlformats.org/drawingml/2006/main" noGrp="1"/>
          </p:cNvSpPr>
          <p:nvPr/>
        </p:nvSpPr>
        <p:spPr>
          <a:xfrm xmlns:a="http://schemas.openxmlformats.org/drawingml/2006/main">
            <a:off x="742950" y="23526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12  How does the system calculate available rooms and beds?</a:t>
            </a:r>
          </a:p>
        </p:txBody>
      </p:sp>
      <p:sp>
        <p:nvSpPr>
          <p:cNvPr id="7" name="">
            <a:extLst xmlns:a="http://schemas.openxmlformats.org/drawingml/2006/main">
              <a:ext uri="{FF2B5EF4-FFF2-40B4-BE49-F238E27FC236}">
                <a16:creationId xmlns:a16="http://schemas.microsoft.com/office/drawing/2014/main" id="{F374C4B9-0A82-4F99-83D6-7252366B37A0}"/>
              </a:ext>
            </a:extLst>
          </p:cNvPr>
          <p:cNvSpPr>
            <a:spLocks xmlns:a="http://schemas.openxmlformats.org/drawingml/2006/main" noGrp="1"/>
          </p:cNvSpPr>
          <p:nvPr/>
        </p:nvSpPr>
        <p:spPr>
          <a:xfrm xmlns:a="http://schemas.openxmlformats.org/drawingml/2006/main">
            <a:off x="10591800" y="23526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18"/>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4/5 Advanced</a:t>
            </a:r>
          </a:p>
        </p:txBody>
      </p:sp>
      <p:sp>
        <p:nvSpPr>
          <p:cNvPr id="8" name="">
            <a:extLst xmlns:a="http://schemas.openxmlformats.org/drawingml/2006/main">
              <a:ext uri="{FF2B5EF4-FFF2-40B4-BE49-F238E27FC236}">
                <a16:creationId xmlns:a16="http://schemas.microsoft.com/office/drawing/2014/main" id="{827B9844-F369-4477-9BCB-12CD4E5E7FCA}"/>
              </a:ext>
            </a:extLst>
          </p:cNvPr>
          <p:cNvSpPr>
            <a:spLocks xmlns:a="http://schemas.openxmlformats.org/drawingml/2006/main" noGrp="1"/>
          </p:cNvSpPr>
          <p:nvPr/>
        </p:nvSpPr>
        <p:spPr>
          <a:xfrm xmlns:a="http://schemas.openxmlformats.org/drawingml/2006/main">
            <a:off x="942975" y="26765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Serializer methods count room and bed statuses rather than storing totals. Recommendation logic additionally requires both room and bed to be available.</a:t>
            </a:r>
          </a:p>
        </p:txBody>
      </p:sp>
      <p:sp>
        <p:nvSpPr>
          <p:cNvPr id="9" name="">
            <a:extLst xmlns:a="http://schemas.openxmlformats.org/drawingml/2006/main">
              <a:ext uri="{FF2B5EF4-FFF2-40B4-BE49-F238E27FC236}">
                <a16:creationId xmlns:a16="http://schemas.microsoft.com/office/drawing/2014/main" id="{96EFB591-7F72-4AE8-ABD6-4A1400103331}"/>
              </a:ext>
            </a:extLst>
          </p:cNvPr>
          <p:cNvSpPr>
            <a:spLocks xmlns:a="http://schemas.openxmlformats.org/drawingml/2006/main" noGrp="1"/>
          </p:cNvSpPr>
          <p:nvPr/>
        </p:nvSpPr>
        <p:spPr>
          <a:xfrm xmlns:a="http://schemas.openxmlformats.org/drawingml/2006/main">
            <a:off x="742950" y="33432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13  Why model Property, Building, Floor, Room and Bed separately?</a:t>
            </a:r>
          </a:p>
        </p:txBody>
      </p:sp>
      <p:sp>
        <p:nvSpPr>
          <p:cNvPr id="10" name="">
            <a:extLst xmlns:a="http://schemas.openxmlformats.org/drawingml/2006/main">
              <a:ext uri="{FF2B5EF4-FFF2-40B4-BE49-F238E27FC236}">
                <a16:creationId xmlns:a16="http://schemas.microsoft.com/office/drawing/2014/main" id="{FEF6B00F-0F67-4CEC-A05F-D5416CE2FDCE}"/>
              </a:ext>
            </a:extLst>
          </p:cNvPr>
          <p:cNvSpPr>
            <a:spLocks xmlns:a="http://schemas.openxmlformats.org/drawingml/2006/main" noGrp="1"/>
          </p:cNvSpPr>
          <p:nvPr/>
        </p:nvSpPr>
        <p:spPr>
          <a:xfrm xmlns:a="http://schemas.openxmlformats.org/drawingml/2006/main">
            <a:off x="10591800" y="33432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2/5 Basic</a:t>
            </a:r>
          </a:p>
        </p:txBody>
      </p:sp>
      <p:sp>
        <p:nvSpPr>
          <p:cNvPr id="11" name="">
            <a:extLst xmlns:a="http://schemas.openxmlformats.org/drawingml/2006/main">
              <a:ext uri="{FF2B5EF4-FFF2-40B4-BE49-F238E27FC236}">
                <a16:creationId xmlns:a16="http://schemas.microsoft.com/office/drawing/2014/main" id="{9A283DF2-EC42-445A-AE4F-346182FBA0FD}"/>
              </a:ext>
            </a:extLst>
          </p:cNvPr>
          <p:cNvSpPr>
            <a:spLocks xmlns:a="http://schemas.openxmlformats.org/drawingml/2006/main" noGrp="1"/>
          </p:cNvSpPr>
          <p:nvPr/>
        </p:nvSpPr>
        <p:spPr>
          <a:xfrm xmlns:a="http://schemas.openxmlformats.org/drawingml/2006/main">
            <a:off x="942975" y="36671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The hierarchy matches real residences and lets pages show property summaries while drilling down to a specific room or bed.</a:t>
            </a:r>
          </a:p>
        </p:txBody>
      </p:sp>
      <p:sp>
        <p:nvSpPr>
          <p:cNvPr id="12" name="">
            <a:extLst xmlns:a="http://schemas.openxmlformats.org/drawingml/2006/main">
              <a:ext uri="{FF2B5EF4-FFF2-40B4-BE49-F238E27FC236}">
                <a16:creationId xmlns:a16="http://schemas.microsoft.com/office/drawing/2014/main" id="{AA0992D5-3D99-46EE-918B-910A6B7A2CE5}"/>
              </a:ext>
            </a:extLst>
          </p:cNvPr>
          <p:cNvSpPr>
            <a:spLocks xmlns:a="http://schemas.openxmlformats.org/drawingml/2006/main" noGrp="1"/>
          </p:cNvSpPr>
          <p:nvPr/>
        </p:nvSpPr>
        <p:spPr>
          <a:xfrm xmlns:a="http://schemas.openxmlformats.org/drawingml/2006/main">
            <a:off x="742950" y="43338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14  How are duplicate room numbers prevented?</a:t>
            </a:r>
          </a:p>
        </p:txBody>
      </p:sp>
      <p:sp>
        <p:nvSpPr>
          <p:cNvPr id="13" name="">
            <a:extLst xmlns:a="http://schemas.openxmlformats.org/drawingml/2006/main">
              <a:ext uri="{FF2B5EF4-FFF2-40B4-BE49-F238E27FC236}">
                <a16:creationId xmlns:a16="http://schemas.microsoft.com/office/drawing/2014/main" id="{9F618C65-5A5A-4505-B05A-5599236CE3EE}"/>
              </a:ext>
            </a:extLst>
          </p:cNvPr>
          <p:cNvSpPr>
            <a:spLocks xmlns:a="http://schemas.openxmlformats.org/drawingml/2006/main" noGrp="1"/>
          </p:cNvSpPr>
          <p:nvPr/>
        </p:nvSpPr>
        <p:spPr>
          <a:xfrm xmlns:a="http://schemas.openxmlformats.org/drawingml/2006/main">
            <a:off x="10591800" y="43338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18"/>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4/5 Advanced</a:t>
            </a:r>
          </a:p>
        </p:txBody>
      </p:sp>
      <p:sp>
        <p:nvSpPr>
          <p:cNvPr id="14" name="">
            <a:extLst xmlns:a="http://schemas.openxmlformats.org/drawingml/2006/main">
              <a:ext uri="{FF2B5EF4-FFF2-40B4-BE49-F238E27FC236}">
                <a16:creationId xmlns:a16="http://schemas.microsoft.com/office/drawing/2014/main" id="{F82BE4D6-0E3D-46DC-BA7E-07419096FE3D}"/>
              </a:ext>
            </a:extLst>
          </p:cNvPr>
          <p:cNvSpPr>
            <a:spLocks xmlns:a="http://schemas.openxmlformats.org/drawingml/2006/main" noGrp="1"/>
          </p:cNvSpPr>
          <p:nvPr/>
        </p:nvSpPr>
        <p:spPr>
          <a:xfrm xmlns:a="http://schemas.openxmlformats.org/drawingml/2006/main">
            <a:off x="942975" y="46577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Room.clean checks trimmed, case-insensitive duplicates in a property, and the database has a unique property/room-number constraint.</a:t>
            </a:r>
          </a:p>
        </p:txBody>
      </p:sp>
      <p:sp>
        <p:nvSpPr>
          <p:cNvPr id="15" name="">
            <a:extLst xmlns:a="http://schemas.openxmlformats.org/drawingml/2006/main">
              <a:ext uri="{FF2B5EF4-FFF2-40B4-BE49-F238E27FC236}">
                <a16:creationId xmlns:a16="http://schemas.microsoft.com/office/drawing/2014/main" id="{31929B3F-AD94-4496-8C0A-B5687717335A}"/>
              </a:ext>
            </a:extLst>
          </p:cNvPr>
          <p:cNvSpPr>
            <a:spLocks xmlns:a="http://schemas.openxmlformats.org/drawingml/2006/main" noGrp="1"/>
          </p:cNvSpPr>
          <p:nvPr/>
        </p:nvSpPr>
        <p:spPr>
          <a:xfrm xmlns:a="http://schemas.openxmlformats.org/drawingml/2006/main">
            <a:off x="742950" y="53244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15  Why are monthly prices stored as DecimalField?</a:t>
            </a:r>
          </a:p>
        </p:txBody>
      </p:sp>
      <p:sp>
        <p:nvSpPr>
          <p:cNvPr id="16" name="">
            <a:extLst xmlns:a="http://schemas.openxmlformats.org/drawingml/2006/main">
              <a:ext uri="{FF2B5EF4-FFF2-40B4-BE49-F238E27FC236}">
                <a16:creationId xmlns:a16="http://schemas.microsoft.com/office/drawing/2014/main" id="{3C96B514-BDAD-4120-85C3-C9FFDF9C42D6}"/>
              </a:ext>
            </a:extLst>
          </p:cNvPr>
          <p:cNvSpPr>
            <a:spLocks xmlns:a="http://schemas.openxmlformats.org/drawingml/2006/main" noGrp="1"/>
          </p:cNvSpPr>
          <p:nvPr/>
        </p:nvSpPr>
        <p:spPr>
          <a:xfrm xmlns:a="http://schemas.openxmlformats.org/drawingml/2006/main">
            <a:off x="10591800" y="53244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3/5 Applied</a:t>
            </a:r>
          </a:p>
        </p:txBody>
      </p:sp>
      <p:sp>
        <p:nvSpPr>
          <p:cNvPr id="17" name="">
            <a:extLst xmlns:a="http://schemas.openxmlformats.org/drawingml/2006/main">
              <a:ext uri="{FF2B5EF4-FFF2-40B4-BE49-F238E27FC236}">
                <a16:creationId xmlns:a16="http://schemas.microsoft.com/office/drawing/2014/main" id="{FE028E94-40F9-4363-A4AF-4BD4B331E009}"/>
              </a:ext>
            </a:extLst>
          </p:cNvPr>
          <p:cNvSpPr>
            <a:spLocks xmlns:a="http://schemas.openxmlformats.org/drawingml/2006/main" noGrp="1"/>
          </p:cNvSpPr>
          <p:nvPr/>
        </p:nvSpPr>
        <p:spPr>
          <a:xfrm xmlns:a="http://schemas.openxmlformats.org/drawingml/2006/main">
            <a:off x="942975" y="56483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Decimal values are appropriate for currency and avoid binary floating-point rounding in stored prices.</a:t>
            </a:r>
          </a:p>
        </p:txBody>
      </p:sp>
    </p:spTree>
    <p:extLst>
      <p:ext uri="{BB962C8B-B14F-4D97-AF65-F5344CB8AC3E}">
        <p14:creationId xmlns:p14="http://schemas.microsoft.com/office/powerpoint/2010/main" val="826060319"/>
      </p:ext>
    </p:extLst>
  </p:cSld>
</p:sld>
</file>

<file path=ppt/slides/slide1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DAD4717-2E76-4CA3-9B8E-3E7B315B4606}"/>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Lecturer questions 16-20  Landlord workflow</a:t>
            </a:r>
          </a:p>
        </p:txBody>
      </p:sp>
      <p:sp>
        <p:nvSpPr>
          <p:cNvPr id="2" name="">
            <a:extLst xmlns:a="http://schemas.openxmlformats.org/drawingml/2006/main">
              <a:ext uri="{FF2B5EF4-FFF2-40B4-BE49-F238E27FC236}">
                <a16:creationId xmlns:a16="http://schemas.microsoft.com/office/drawing/2014/main" id="{4F7821CA-503B-4B14-9648-97748D028921}"/>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Difficulty: 1 Intro  |  2 Basic  |  3 Applied  |  4 Advanced  |  5 Expert</a:t>
            </a:r>
          </a:p>
        </p:txBody>
      </p:sp>
      <p:sp>
        <p:nvSpPr>
          <p:cNvPr id="3" name="">
            <a:extLst xmlns:a="http://schemas.openxmlformats.org/drawingml/2006/main">
              <a:ext uri="{FF2B5EF4-FFF2-40B4-BE49-F238E27FC236}">
                <a16:creationId xmlns:a16="http://schemas.microsoft.com/office/drawing/2014/main" id="{137DED59-43BB-4908-AD1D-EF17E6EFD4A9}"/>
              </a:ext>
            </a:extLst>
          </p:cNvPr>
          <p:cNvSpPr>
            <a:spLocks xmlns:a="http://schemas.openxmlformats.org/drawingml/2006/main" noGrp="1"/>
          </p:cNvSpPr>
          <p:nvPr/>
        </p:nvSpPr>
        <p:spPr>
          <a:xfrm xmlns:a="http://schemas.openxmlformats.org/drawingml/2006/main">
            <a:off x="742950" y="13620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16  Can one landlord read or change another landlord's property?</a:t>
            </a:r>
          </a:p>
        </p:txBody>
      </p:sp>
      <p:sp>
        <p:nvSpPr>
          <p:cNvPr id="4" name="">
            <a:extLst xmlns:a="http://schemas.openxmlformats.org/drawingml/2006/main">
              <a:ext uri="{FF2B5EF4-FFF2-40B4-BE49-F238E27FC236}">
                <a16:creationId xmlns:a16="http://schemas.microsoft.com/office/drawing/2014/main" id="{3912C777-F766-4DAA-B9B9-0ED32864AF6D}"/>
              </a:ext>
            </a:extLst>
          </p:cNvPr>
          <p:cNvSpPr>
            <a:spLocks xmlns:a="http://schemas.openxmlformats.org/drawingml/2006/main" noGrp="1"/>
          </p:cNvSpPr>
          <p:nvPr/>
        </p:nvSpPr>
        <p:spPr>
          <a:xfrm xmlns:a="http://schemas.openxmlformats.org/drawingml/2006/main">
            <a:off x="10591800" y="13620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18"/>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4/5 Advanced</a:t>
            </a:r>
          </a:p>
        </p:txBody>
      </p:sp>
      <p:sp>
        <p:nvSpPr>
          <p:cNvPr id="5" name="">
            <a:extLst xmlns:a="http://schemas.openxmlformats.org/drawingml/2006/main">
              <a:ext uri="{FF2B5EF4-FFF2-40B4-BE49-F238E27FC236}">
                <a16:creationId xmlns:a16="http://schemas.microsoft.com/office/drawing/2014/main" id="{E063845E-D3EE-44DE-AFF3-4C3179747600}"/>
              </a:ext>
            </a:extLst>
          </p:cNvPr>
          <p:cNvSpPr>
            <a:spLocks xmlns:a="http://schemas.openxmlformats.org/drawingml/2006/main" noGrp="1"/>
          </p:cNvSpPr>
          <p:nvPr/>
        </p:nvSpPr>
        <p:spPr>
          <a:xfrm xmlns:a="http://schemas.openxmlformats.org/drawingml/2006/main">
            <a:off x="942975" y="16859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The backend requires an authenticated landlord and scopes the queryset to landlord=request.user; the React page is not the security boundary.</a:t>
            </a:r>
          </a:p>
        </p:txBody>
      </p:sp>
      <p:sp>
        <p:nvSpPr>
          <p:cNvPr id="6" name="">
            <a:extLst xmlns:a="http://schemas.openxmlformats.org/drawingml/2006/main">
              <a:ext uri="{FF2B5EF4-FFF2-40B4-BE49-F238E27FC236}">
                <a16:creationId xmlns:a16="http://schemas.microsoft.com/office/drawing/2014/main" id="{FE4FC1ED-CB7A-48EF-A366-D8EBFB749F74}"/>
              </a:ext>
            </a:extLst>
          </p:cNvPr>
          <p:cNvSpPr>
            <a:spLocks xmlns:a="http://schemas.openxmlformats.org/drawingml/2006/main" noGrp="1"/>
          </p:cNvSpPr>
          <p:nvPr/>
        </p:nvSpPr>
        <p:spPr>
          <a:xfrm xmlns:a="http://schemas.openxmlformats.org/drawingml/2006/main">
            <a:off x="742950" y="23526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17  What must be complete before a listing can be submitted?</a:t>
            </a:r>
          </a:p>
        </p:txBody>
      </p:sp>
      <p:sp>
        <p:nvSpPr>
          <p:cNvPr id="7" name="">
            <a:extLst xmlns:a="http://schemas.openxmlformats.org/drawingml/2006/main">
              <a:ext uri="{FF2B5EF4-FFF2-40B4-BE49-F238E27FC236}">
                <a16:creationId xmlns:a16="http://schemas.microsoft.com/office/drawing/2014/main" id="{02C9A8CC-B937-41D3-8B55-1F03F45F98C7}"/>
              </a:ext>
            </a:extLst>
          </p:cNvPr>
          <p:cNvSpPr>
            <a:spLocks xmlns:a="http://schemas.openxmlformats.org/drawingml/2006/main" noGrp="1"/>
          </p:cNvSpPr>
          <p:nvPr/>
        </p:nvSpPr>
        <p:spPr>
          <a:xfrm xmlns:a="http://schemas.openxmlformats.org/drawingml/2006/main">
            <a:off x="10591800" y="23526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3/5 Applied</a:t>
            </a:r>
          </a:p>
        </p:txBody>
      </p:sp>
      <p:sp>
        <p:nvSpPr>
          <p:cNvPr id="8" name="">
            <a:extLst xmlns:a="http://schemas.openxmlformats.org/drawingml/2006/main">
              <a:ext uri="{FF2B5EF4-FFF2-40B4-BE49-F238E27FC236}">
                <a16:creationId xmlns:a16="http://schemas.microsoft.com/office/drawing/2014/main" id="{CCB7F392-508E-4091-A85F-6D4A68079DBE}"/>
              </a:ext>
            </a:extLst>
          </p:cNvPr>
          <p:cNvSpPr>
            <a:spLocks xmlns:a="http://schemas.openxmlformats.org/drawingml/2006/main" noGrp="1"/>
          </p:cNvSpPr>
          <p:nvPr/>
        </p:nvSpPr>
        <p:spPr>
          <a:xfrm xmlns:a="http://schemas.openxmlformats.org/drawingml/2006/main">
            <a:off x="942975" y="26765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The landlord must be verified; the listing needs a name, description, address, at least one photo and at least one bed in a room.</a:t>
            </a:r>
          </a:p>
        </p:txBody>
      </p:sp>
      <p:sp>
        <p:nvSpPr>
          <p:cNvPr id="9" name="">
            <a:extLst xmlns:a="http://schemas.openxmlformats.org/drawingml/2006/main">
              <a:ext uri="{FF2B5EF4-FFF2-40B4-BE49-F238E27FC236}">
                <a16:creationId xmlns:a16="http://schemas.microsoft.com/office/drawing/2014/main" id="{C00FF817-72DC-44EE-B5ED-7890F4548CEC}"/>
              </a:ext>
            </a:extLst>
          </p:cNvPr>
          <p:cNvSpPr>
            <a:spLocks xmlns:a="http://schemas.openxmlformats.org/drawingml/2006/main" noGrp="1"/>
          </p:cNvSpPr>
          <p:nvPr/>
        </p:nvSpPr>
        <p:spPr>
          <a:xfrm xmlns:a="http://schemas.openxmlformats.org/drawingml/2006/main">
            <a:off x="742950" y="33432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18  What happens when a landlord edits an approved listing?</a:t>
            </a:r>
          </a:p>
        </p:txBody>
      </p:sp>
      <p:sp>
        <p:nvSpPr>
          <p:cNvPr id="10" name="">
            <a:extLst xmlns:a="http://schemas.openxmlformats.org/drawingml/2006/main">
              <a:ext uri="{FF2B5EF4-FFF2-40B4-BE49-F238E27FC236}">
                <a16:creationId xmlns:a16="http://schemas.microsoft.com/office/drawing/2014/main" id="{072063C0-2FA5-44B2-AB11-8D53B2CD881F}"/>
              </a:ext>
            </a:extLst>
          </p:cNvPr>
          <p:cNvSpPr>
            <a:spLocks xmlns:a="http://schemas.openxmlformats.org/drawingml/2006/main" noGrp="1"/>
          </p:cNvSpPr>
          <p:nvPr/>
        </p:nvSpPr>
        <p:spPr>
          <a:xfrm xmlns:a="http://schemas.openxmlformats.org/drawingml/2006/main">
            <a:off x="10591800" y="33432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18"/>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4/5 Advanced</a:t>
            </a:r>
          </a:p>
        </p:txBody>
      </p:sp>
      <p:sp>
        <p:nvSpPr>
          <p:cNvPr id="11" name="">
            <a:extLst xmlns:a="http://schemas.openxmlformats.org/drawingml/2006/main">
              <a:ext uri="{FF2B5EF4-FFF2-40B4-BE49-F238E27FC236}">
                <a16:creationId xmlns:a16="http://schemas.microsoft.com/office/drawing/2014/main" id="{BB7DB495-2599-4DB1-B342-484A9D1824C7}"/>
              </a:ext>
            </a:extLst>
          </p:cNvPr>
          <p:cNvSpPr>
            <a:spLocks xmlns:a="http://schemas.openxmlformats.org/drawingml/2006/main" noGrp="1"/>
          </p:cNvSpPr>
          <p:nvPr/>
        </p:nvSpPr>
        <p:spPr>
          <a:xfrm xmlns:a="http://schemas.openxmlformats.org/drawingml/2006/main">
            <a:off x="942975" y="36671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A content change resets it to DRAFT and clears approval data, so changed information must be reviewed again.</a:t>
            </a:r>
          </a:p>
        </p:txBody>
      </p:sp>
      <p:sp>
        <p:nvSpPr>
          <p:cNvPr id="12" name="">
            <a:extLst xmlns:a="http://schemas.openxmlformats.org/drawingml/2006/main">
              <a:ext uri="{FF2B5EF4-FFF2-40B4-BE49-F238E27FC236}">
                <a16:creationId xmlns:a16="http://schemas.microsoft.com/office/drawing/2014/main" id="{A6F10CED-876A-4FAE-A4C1-2D314A84E370}"/>
              </a:ext>
            </a:extLst>
          </p:cNvPr>
          <p:cNvSpPr>
            <a:spLocks xmlns:a="http://schemas.openxmlformats.org/drawingml/2006/main" noGrp="1"/>
          </p:cNvSpPr>
          <p:nvPr/>
        </p:nvSpPr>
        <p:spPr>
          <a:xfrm xmlns:a="http://schemas.openxmlformats.org/drawingml/2006/main">
            <a:off x="742950" y="43338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19  What can the administrator do during property review?</a:t>
            </a:r>
          </a:p>
        </p:txBody>
      </p:sp>
      <p:sp>
        <p:nvSpPr>
          <p:cNvPr id="13" name="">
            <a:extLst xmlns:a="http://schemas.openxmlformats.org/drawingml/2006/main">
              <a:ext uri="{FF2B5EF4-FFF2-40B4-BE49-F238E27FC236}">
                <a16:creationId xmlns:a16="http://schemas.microsoft.com/office/drawing/2014/main" id="{4F2C49DB-6DAF-43A5-9164-3A4219C4703D}"/>
              </a:ext>
            </a:extLst>
          </p:cNvPr>
          <p:cNvSpPr>
            <a:spLocks xmlns:a="http://schemas.openxmlformats.org/drawingml/2006/main" noGrp="1"/>
          </p:cNvSpPr>
          <p:nvPr/>
        </p:nvSpPr>
        <p:spPr>
          <a:xfrm xmlns:a="http://schemas.openxmlformats.org/drawingml/2006/main">
            <a:off x="10591800" y="43338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3/5 Applied</a:t>
            </a:r>
          </a:p>
        </p:txBody>
      </p:sp>
      <p:sp>
        <p:nvSpPr>
          <p:cNvPr id="14" name="">
            <a:extLst xmlns:a="http://schemas.openxmlformats.org/drawingml/2006/main">
              <a:ext uri="{FF2B5EF4-FFF2-40B4-BE49-F238E27FC236}">
                <a16:creationId xmlns:a16="http://schemas.microsoft.com/office/drawing/2014/main" id="{671B92D9-7F31-4383-9250-55CBCD786F21}"/>
              </a:ext>
            </a:extLst>
          </p:cNvPr>
          <p:cNvSpPr>
            <a:spLocks xmlns:a="http://schemas.openxmlformats.org/drawingml/2006/main" noGrp="1"/>
          </p:cNvSpPr>
          <p:nvPr/>
        </p:nvSpPr>
        <p:spPr>
          <a:xfrm xmlns:a="http://schemas.openxmlformats.org/drawingml/2006/main">
            <a:off x="942975" y="46577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Review pending listings, approve or reject them, require a note for rejection, and record an audit event.</a:t>
            </a:r>
          </a:p>
        </p:txBody>
      </p:sp>
      <p:sp>
        <p:nvSpPr>
          <p:cNvPr id="15" name="">
            <a:extLst xmlns:a="http://schemas.openxmlformats.org/drawingml/2006/main">
              <a:ext uri="{FF2B5EF4-FFF2-40B4-BE49-F238E27FC236}">
                <a16:creationId xmlns:a16="http://schemas.microsoft.com/office/drawing/2014/main" id="{C5A16B2B-6590-4ACD-9BCA-1B9A47052B32}"/>
              </a:ext>
            </a:extLst>
          </p:cNvPr>
          <p:cNvSpPr>
            <a:spLocks xmlns:a="http://schemas.openxmlformats.org/drawingml/2006/main" noGrp="1"/>
          </p:cNvSpPr>
          <p:nvPr/>
        </p:nvSpPr>
        <p:spPr>
          <a:xfrm xmlns:a="http://schemas.openxmlformats.org/drawingml/2006/main">
            <a:off x="742950" y="53244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20  Where are compare IDs and saved properties stored?</a:t>
            </a:r>
          </a:p>
        </p:txBody>
      </p:sp>
      <p:sp>
        <p:nvSpPr>
          <p:cNvPr id="16" name="">
            <a:extLst xmlns:a="http://schemas.openxmlformats.org/drawingml/2006/main">
              <a:ext uri="{FF2B5EF4-FFF2-40B4-BE49-F238E27FC236}">
                <a16:creationId xmlns:a16="http://schemas.microsoft.com/office/drawing/2014/main" id="{7FB18267-465C-4624-BA1D-EE0CCEFCE621}"/>
              </a:ext>
            </a:extLst>
          </p:cNvPr>
          <p:cNvSpPr>
            <a:spLocks xmlns:a="http://schemas.openxmlformats.org/drawingml/2006/main" noGrp="1"/>
          </p:cNvSpPr>
          <p:nvPr/>
        </p:nvSpPr>
        <p:spPr>
          <a:xfrm xmlns:a="http://schemas.openxmlformats.org/drawingml/2006/main">
            <a:off x="10591800" y="53244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075E63"/>
                </a:solidFill>
                <a:latin typeface="Arial"/>
                <a:ea typeface="Arial"/>
                <a:cs typeface="Arial"/>
              </a:defRPr>
            </a:pPr>
            <a:r>
              <a:rPr sz="1163" b="1">
                <a:solidFill>
                  <a:srgbClr val="075E63"/>
                </a:solidFill>
                <a:latin typeface="Arial"/>
                <a:ea typeface="Arial"/>
                <a:cs typeface="Arial"/>
              </a:rPr>
              <a:t>2/5 Basic</a:t>
            </a:r>
          </a:p>
        </p:txBody>
      </p:sp>
      <p:sp>
        <p:nvSpPr>
          <p:cNvPr id="17" name="">
            <a:extLst xmlns:a="http://schemas.openxmlformats.org/drawingml/2006/main">
              <a:ext uri="{FF2B5EF4-FFF2-40B4-BE49-F238E27FC236}">
                <a16:creationId xmlns:a16="http://schemas.microsoft.com/office/drawing/2014/main" id="{07A3FC33-D028-4C85-A04C-11805BB566CE}"/>
              </a:ext>
            </a:extLst>
          </p:cNvPr>
          <p:cNvSpPr>
            <a:spLocks xmlns:a="http://schemas.openxmlformats.org/drawingml/2006/main" noGrp="1"/>
          </p:cNvSpPr>
          <p:nvPr/>
        </p:nvSpPr>
        <p:spPr>
          <a:xfrm xmlns:a="http://schemas.openxmlformats.org/drawingml/2006/main">
            <a:off x="942975" y="56483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Comparison IDs are in browser localStorage, limited to three; saved favorites use authenticated API requests and are stored per student.</a:t>
            </a:r>
          </a:p>
        </p:txBody>
      </p:sp>
    </p:spTree>
    <p:extLst>
      <p:ext uri="{BB962C8B-B14F-4D97-AF65-F5344CB8AC3E}">
        <p14:creationId xmlns:p14="http://schemas.microsoft.com/office/powerpoint/2010/main" val="674888824"/>
      </p:ext>
    </p:extLst>
  </p:cSld>
</p:sld>
</file>

<file path=ppt/slides/slide1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F808E96-9B9A-48B1-901A-439846A94F07}"/>
              </a:ext>
            </a:extLst>
          </p:cNvPr>
          <p:cNvSpPr>
            <a:spLocks xmlns:a="http://schemas.openxmlformats.org/drawingml/2006/main" noGrp="1"/>
          </p:cNvSpPr>
          <p:nvPr/>
        </p:nvSpPr>
        <p:spPr>
          <a:xfrm xmlns:a="http://schemas.openxmlformats.org/drawingml/2006/main">
            <a:off x="66675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172A3A"/>
                </a:solidFill>
                <a:latin typeface="Arial"/>
                <a:ea typeface="Arial"/>
                <a:cs typeface="Arial"/>
              </a:defRPr>
            </a:pPr>
            <a:r>
              <a:rPr sz="2700" b="1">
                <a:solidFill>
                  <a:srgbClr val="172A3A"/>
                </a:solidFill>
                <a:latin typeface="Arial"/>
                <a:ea typeface="Arial"/>
                <a:cs typeface="Arial"/>
              </a:rPr>
              <a:t>Lecturer questions 21-25  Recommendations and hard cases</a:t>
            </a:r>
          </a:p>
        </p:txBody>
      </p:sp>
      <p:sp>
        <p:nvSpPr>
          <p:cNvPr id="2" name="">
            <a:extLst xmlns:a="http://schemas.openxmlformats.org/drawingml/2006/main">
              <a:ext uri="{FF2B5EF4-FFF2-40B4-BE49-F238E27FC236}">
                <a16:creationId xmlns:a16="http://schemas.microsoft.com/office/drawing/2014/main" id="{DC8DE30D-E1E2-407B-9FBB-688414862E11}"/>
              </a:ext>
            </a:extLst>
          </p:cNvPr>
          <p:cNvSpPr>
            <a:spLocks xmlns:a="http://schemas.openxmlformats.org/drawingml/2006/main" noGrp="1"/>
          </p:cNvSpPr>
          <p:nvPr/>
        </p:nvSpPr>
        <p:spPr>
          <a:xfrm xmlns:a="http://schemas.openxmlformats.org/drawingml/2006/main">
            <a:off x="685800" y="9429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474"/>
                </a:solidFill>
                <a:latin typeface="Arial"/>
                <a:ea typeface="Arial"/>
                <a:cs typeface="Arial"/>
              </a:defRPr>
            </a:pPr>
            <a:r>
              <a:rPr sz="1350" b="0">
                <a:solidFill>
                  <a:srgbClr val="526474"/>
                </a:solidFill>
                <a:latin typeface="Arial"/>
                <a:ea typeface="Arial"/>
                <a:cs typeface="Arial"/>
              </a:rPr>
              <a:t>Difficulty: 1 Intro  |  2 Basic  |  3 Applied  |  4 Advanced  |  5 Expert</a:t>
            </a:r>
          </a:p>
        </p:txBody>
      </p:sp>
      <p:sp>
        <p:nvSpPr>
          <p:cNvPr id="3" name="">
            <a:extLst xmlns:a="http://schemas.openxmlformats.org/drawingml/2006/main">
              <a:ext uri="{FF2B5EF4-FFF2-40B4-BE49-F238E27FC236}">
                <a16:creationId xmlns:a16="http://schemas.microsoft.com/office/drawing/2014/main" id="{A1DFBA01-F0F9-4564-917D-589B39E9C423}"/>
              </a:ext>
            </a:extLst>
          </p:cNvPr>
          <p:cNvSpPr>
            <a:spLocks xmlns:a="http://schemas.openxmlformats.org/drawingml/2006/main" noGrp="1"/>
          </p:cNvSpPr>
          <p:nvPr/>
        </p:nvSpPr>
        <p:spPr>
          <a:xfrm xmlns:a="http://schemas.openxmlformats.org/drawingml/2006/main">
            <a:off x="742950" y="13620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21  Are accommodation recommendations generated by AI or machine learning?</a:t>
            </a:r>
          </a:p>
        </p:txBody>
      </p:sp>
      <p:sp>
        <p:nvSpPr>
          <p:cNvPr id="4" name="">
            <a:extLst xmlns:a="http://schemas.openxmlformats.org/drawingml/2006/main">
              <a:ext uri="{FF2B5EF4-FFF2-40B4-BE49-F238E27FC236}">
                <a16:creationId xmlns:a16="http://schemas.microsoft.com/office/drawing/2014/main" id="{7112E7AE-BC44-42ED-9C92-1A73C2DFE011}"/>
              </a:ext>
            </a:extLst>
          </p:cNvPr>
          <p:cNvSpPr>
            <a:spLocks xmlns:a="http://schemas.openxmlformats.org/drawingml/2006/main" noGrp="1"/>
          </p:cNvSpPr>
          <p:nvPr/>
        </p:nvSpPr>
        <p:spPr>
          <a:xfrm xmlns:a="http://schemas.openxmlformats.org/drawingml/2006/main">
            <a:off x="10591800" y="13620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18"/>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4/5 Advanced</a:t>
            </a:r>
          </a:p>
        </p:txBody>
      </p:sp>
      <p:sp>
        <p:nvSpPr>
          <p:cNvPr id="5" name="">
            <a:extLst xmlns:a="http://schemas.openxmlformats.org/drawingml/2006/main">
              <a:ext uri="{FF2B5EF4-FFF2-40B4-BE49-F238E27FC236}">
                <a16:creationId xmlns:a16="http://schemas.microsoft.com/office/drawing/2014/main" id="{B903D5C5-19D8-4A1B-B22B-0E66B4B7DCA7}"/>
              </a:ext>
            </a:extLst>
          </p:cNvPr>
          <p:cNvSpPr>
            <a:spLocks xmlns:a="http://schemas.openxmlformats.org/drawingml/2006/main" noGrp="1"/>
          </p:cNvSpPr>
          <p:nvPr/>
        </p:nvSpPr>
        <p:spPr>
          <a:xfrm xmlns:a="http://schemas.openxmlformats.org/drawingml/2006/main">
            <a:off x="942975" y="16859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No. They use an explicit weighted rules score and return reasons and considerations for each match.</a:t>
            </a:r>
          </a:p>
        </p:txBody>
      </p:sp>
      <p:sp>
        <p:nvSpPr>
          <p:cNvPr id="6" name="">
            <a:extLst xmlns:a="http://schemas.openxmlformats.org/drawingml/2006/main">
              <a:ext uri="{FF2B5EF4-FFF2-40B4-BE49-F238E27FC236}">
                <a16:creationId xmlns:a16="http://schemas.microsoft.com/office/drawing/2014/main" id="{773EFFB9-27ED-4976-A4E9-3A7DA34A7090}"/>
              </a:ext>
            </a:extLst>
          </p:cNvPr>
          <p:cNvSpPr>
            <a:spLocks xmlns:a="http://schemas.openxmlformats.org/drawingml/2006/main" noGrp="1"/>
          </p:cNvSpPr>
          <p:nvPr/>
        </p:nvSpPr>
        <p:spPr>
          <a:xfrm xmlns:a="http://schemas.openxmlformats.org/drawingml/2006/main">
            <a:off x="742950" y="23526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22  How is a recommendation score calculated?</a:t>
            </a:r>
          </a:p>
        </p:txBody>
      </p:sp>
      <p:sp>
        <p:nvSpPr>
          <p:cNvPr id="7" name="">
            <a:extLst xmlns:a="http://schemas.openxmlformats.org/drawingml/2006/main">
              <a:ext uri="{FF2B5EF4-FFF2-40B4-BE49-F238E27FC236}">
                <a16:creationId xmlns:a16="http://schemas.microsoft.com/office/drawing/2014/main" id="{DBDF2B32-12BE-4A31-AB1E-3F6B6B93C709}"/>
              </a:ext>
            </a:extLst>
          </p:cNvPr>
          <p:cNvSpPr>
            <a:spLocks xmlns:a="http://schemas.openxmlformats.org/drawingml/2006/main" noGrp="1"/>
          </p:cNvSpPr>
          <p:nvPr/>
        </p:nvSpPr>
        <p:spPr>
          <a:xfrm xmlns:a="http://schemas.openxmlformats.org/drawingml/2006/main">
            <a:off x="10591800" y="23526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5/5 Expert</a:t>
            </a:r>
          </a:p>
        </p:txBody>
      </p:sp>
      <p:sp>
        <p:nvSpPr>
          <p:cNvPr id="8" name="">
            <a:extLst xmlns:a="http://schemas.openxmlformats.org/drawingml/2006/main">
              <a:ext uri="{FF2B5EF4-FFF2-40B4-BE49-F238E27FC236}">
                <a16:creationId xmlns:a16="http://schemas.microsoft.com/office/drawing/2014/main" id="{96178797-BE55-4FE5-BCE6-3F20E7C61804}"/>
              </a:ext>
            </a:extLst>
          </p:cNvPr>
          <p:cNvSpPr>
            <a:spLocks xmlns:a="http://schemas.openxmlformats.org/drawingml/2006/main" noGrp="1"/>
          </p:cNvSpPr>
          <p:nvPr/>
        </p:nvSpPr>
        <p:spPr>
          <a:xfrm xmlns:a="http://schemas.openxmlformats.org/drawingml/2006/main">
            <a:off x="942975" y="26765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Availability starts at 25 points; budget adds 25, room type 20, accessibility 10, distance 10 and campus match 10 (university match 5). The earned score is normalized.</a:t>
            </a:r>
          </a:p>
        </p:txBody>
      </p:sp>
      <p:sp>
        <p:nvSpPr>
          <p:cNvPr id="9" name="">
            <a:extLst xmlns:a="http://schemas.openxmlformats.org/drawingml/2006/main">
              <a:ext uri="{FF2B5EF4-FFF2-40B4-BE49-F238E27FC236}">
                <a16:creationId xmlns:a16="http://schemas.microsoft.com/office/drawing/2014/main" id="{D6A09A35-C4BA-427B-B8AB-983408481463}"/>
              </a:ext>
            </a:extLst>
          </p:cNvPr>
          <p:cNvSpPr>
            <a:spLocks xmlns:a="http://schemas.openxmlformats.org/drawingml/2006/main" noGrp="1"/>
          </p:cNvSpPr>
          <p:nvPr/>
        </p:nvSpPr>
        <p:spPr>
          <a:xfrm xmlns:a="http://schemas.openxmlformats.org/drawingml/2006/main">
            <a:off x="742950" y="33432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23  How does the waiting list choose who gets a bed offer?</a:t>
            </a:r>
          </a:p>
        </p:txBody>
      </p:sp>
      <p:sp>
        <p:nvSpPr>
          <p:cNvPr id="10" name="">
            <a:extLst xmlns:a="http://schemas.openxmlformats.org/drawingml/2006/main">
              <a:ext uri="{FF2B5EF4-FFF2-40B4-BE49-F238E27FC236}">
                <a16:creationId xmlns:a16="http://schemas.microsoft.com/office/drawing/2014/main" id="{43D18D01-D1A8-489F-A0BA-12D4D66C7C9D}"/>
              </a:ext>
            </a:extLst>
          </p:cNvPr>
          <p:cNvSpPr>
            <a:spLocks xmlns:a="http://schemas.openxmlformats.org/drawingml/2006/main" noGrp="1"/>
          </p:cNvSpPr>
          <p:nvPr/>
        </p:nvSpPr>
        <p:spPr>
          <a:xfrm xmlns:a="http://schemas.openxmlformats.org/drawingml/2006/main">
            <a:off x="10591800" y="33432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5/5 Expert</a:t>
            </a:r>
          </a:p>
        </p:txBody>
      </p:sp>
      <p:sp>
        <p:nvSpPr>
          <p:cNvPr id="11" name="">
            <a:extLst xmlns:a="http://schemas.openxmlformats.org/drawingml/2006/main">
              <a:ext uri="{FF2B5EF4-FFF2-40B4-BE49-F238E27FC236}">
                <a16:creationId xmlns:a16="http://schemas.microsoft.com/office/drawing/2014/main" id="{3DFBE6A8-B92E-4C13-81B7-C2A183F2EFD9}"/>
              </a:ext>
            </a:extLst>
          </p:cNvPr>
          <p:cNvSpPr>
            <a:spLocks xmlns:a="http://schemas.openxmlformats.org/drawingml/2006/main" noGrp="1"/>
          </p:cNvSpPr>
          <p:nvPr/>
        </p:nvSpPr>
        <p:spPr>
          <a:xfrm xmlns:a="http://schemas.openxmlformats.org/drawingml/2006/main">
            <a:off x="942975" y="36671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It matches property, room type, price and accessibility, then orders by priority score and FIFO tie breakers; the offer lasts 48 hours.</a:t>
            </a:r>
          </a:p>
        </p:txBody>
      </p:sp>
      <p:sp>
        <p:nvSpPr>
          <p:cNvPr id="12" name="">
            <a:extLst xmlns:a="http://schemas.openxmlformats.org/drawingml/2006/main">
              <a:ext uri="{FF2B5EF4-FFF2-40B4-BE49-F238E27FC236}">
                <a16:creationId xmlns:a16="http://schemas.microsoft.com/office/drawing/2014/main" id="{CEA586BC-0553-4650-B775-44AD8C3F0E5C}"/>
              </a:ext>
            </a:extLst>
          </p:cNvPr>
          <p:cNvSpPr>
            <a:spLocks xmlns:a="http://schemas.openxmlformats.org/drawingml/2006/main" noGrp="1"/>
          </p:cNvSpPr>
          <p:nvPr/>
        </p:nvSpPr>
        <p:spPr>
          <a:xfrm xmlns:a="http://schemas.openxmlformats.org/drawingml/2006/main">
            <a:off x="742950" y="43338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24  How does the code reduce the chance of offering one bed twice?</a:t>
            </a:r>
          </a:p>
        </p:txBody>
      </p:sp>
      <p:sp>
        <p:nvSpPr>
          <p:cNvPr id="13" name="">
            <a:extLst xmlns:a="http://schemas.openxmlformats.org/drawingml/2006/main">
              <a:ext uri="{FF2B5EF4-FFF2-40B4-BE49-F238E27FC236}">
                <a16:creationId xmlns:a16="http://schemas.microsoft.com/office/drawing/2014/main" id="{A2926424-1AED-42C4-BBEB-13BBC226C62F}"/>
              </a:ext>
            </a:extLst>
          </p:cNvPr>
          <p:cNvSpPr>
            <a:spLocks xmlns:a="http://schemas.openxmlformats.org/drawingml/2006/main" noGrp="1"/>
          </p:cNvSpPr>
          <p:nvPr/>
        </p:nvSpPr>
        <p:spPr>
          <a:xfrm xmlns:a="http://schemas.openxmlformats.org/drawingml/2006/main">
            <a:off x="10591800" y="43338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5/5 Expert</a:t>
            </a:r>
          </a:p>
        </p:txBody>
      </p:sp>
      <p:sp>
        <p:nvSpPr>
          <p:cNvPr id="14" name="">
            <a:extLst xmlns:a="http://schemas.openxmlformats.org/drawingml/2006/main">
              <a:ext uri="{FF2B5EF4-FFF2-40B4-BE49-F238E27FC236}">
                <a16:creationId xmlns:a16="http://schemas.microsoft.com/office/drawing/2014/main" id="{0326529F-B719-4D23-8E16-381F8A2D001F}"/>
              </a:ext>
            </a:extLst>
          </p:cNvPr>
          <p:cNvSpPr>
            <a:spLocks xmlns:a="http://schemas.openxmlformats.org/drawingml/2006/main" noGrp="1"/>
          </p:cNvSpPr>
          <p:nvPr/>
        </p:nvSpPr>
        <p:spPr>
          <a:xfrm xmlns:a="http://schemas.openxmlformats.org/drawingml/2006/main">
            <a:off x="942975" y="46577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A transaction locks the bed and candidate rows, then checks for an active offer or acceptance. Concurrent tests should still verify this on the deployment database.</a:t>
            </a:r>
          </a:p>
        </p:txBody>
      </p:sp>
      <p:sp>
        <p:nvSpPr>
          <p:cNvPr id="15" name="">
            <a:extLst xmlns:a="http://schemas.openxmlformats.org/drawingml/2006/main">
              <a:ext uri="{FF2B5EF4-FFF2-40B4-BE49-F238E27FC236}">
                <a16:creationId xmlns:a16="http://schemas.microsoft.com/office/drawing/2014/main" id="{CA2A4AE0-7BF7-4F21-B363-3C9016FA501F}"/>
              </a:ext>
            </a:extLst>
          </p:cNvPr>
          <p:cNvSpPr>
            <a:spLocks xmlns:a="http://schemas.openxmlformats.org/drawingml/2006/main" noGrp="1"/>
          </p:cNvSpPr>
          <p:nvPr/>
        </p:nvSpPr>
        <p:spPr>
          <a:xfrm xmlns:a="http://schemas.openxmlformats.org/drawingml/2006/main">
            <a:off x="742950" y="5324475"/>
            <a:ext cx="984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88" b="1">
                <a:solidFill>
                  <a:srgbClr val="172A3A"/>
                </a:solidFill>
                <a:latin typeface="Arial"/>
                <a:ea typeface="Arial"/>
                <a:cs typeface="Arial"/>
              </a:defRPr>
            </a:pPr>
            <a:r>
              <a:rPr sz="1388" b="1">
                <a:solidFill>
                  <a:srgbClr val="172A3A"/>
                </a:solidFill>
                <a:latin typeface="Arial"/>
                <a:ea typeface="Arial"/>
                <a:cs typeface="Arial"/>
              </a:rPr>
              <a:t>25  What usability evidence would show that student search is easy to use?</a:t>
            </a:r>
          </a:p>
        </p:txBody>
      </p:sp>
      <p:sp>
        <p:nvSpPr>
          <p:cNvPr id="16" name="">
            <a:extLst xmlns:a="http://schemas.openxmlformats.org/drawingml/2006/main">
              <a:ext uri="{FF2B5EF4-FFF2-40B4-BE49-F238E27FC236}">
                <a16:creationId xmlns:a16="http://schemas.microsoft.com/office/drawing/2014/main" id="{8B5A7AE5-D225-4772-A5CA-38789FBA4E1A}"/>
              </a:ext>
            </a:extLst>
          </p:cNvPr>
          <p:cNvSpPr>
            <a:spLocks xmlns:a="http://schemas.openxmlformats.org/drawingml/2006/main" noGrp="1"/>
          </p:cNvSpPr>
          <p:nvPr/>
        </p:nvSpPr>
        <p:spPr>
          <a:xfrm xmlns:a="http://schemas.openxmlformats.org/drawingml/2006/main">
            <a:off x="10591800" y="5324475"/>
            <a:ext cx="88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18"/>
          </a:bodyPr>
          <a:lstStyle xmlns:a="http://schemas.openxmlformats.org/drawingml/2006/main"/>
          <a:p xmlns:a="http://schemas.openxmlformats.org/drawingml/2006/main">
            <a:pPr algn="r">
              <a:lnSpc>
                <a:spcPct val="108000"/>
              </a:lnSpc>
              <a:buNone/>
              <a:defRPr sz="1163" b="1">
                <a:solidFill>
                  <a:srgbClr val="9A5B08"/>
                </a:solidFill>
                <a:latin typeface="Arial"/>
                <a:ea typeface="Arial"/>
                <a:cs typeface="Arial"/>
              </a:defRPr>
            </a:pPr>
            <a:r>
              <a:rPr sz="1163" b="1">
                <a:solidFill>
                  <a:srgbClr val="9A5B08"/>
                </a:solidFill>
                <a:latin typeface="Arial"/>
                <a:ea typeface="Arial"/>
                <a:cs typeface="Arial"/>
              </a:rPr>
              <a:t>4/5 Advanced</a:t>
            </a:r>
          </a:p>
        </p:txBody>
      </p:sp>
      <p:sp>
        <p:nvSpPr>
          <p:cNvPr id="17" name="">
            <a:extLst xmlns:a="http://schemas.openxmlformats.org/drawingml/2006/main">
              <a:ext uri="{FF2B5EF4-FFF2-40B4-BE49-F238E27FC236}">
                <a16:creationId xmlns:a16="http://schemas.microsoft.com/office/drawing/2014/main" id="{D99C5AE3-3D50-4E62-91E2-EB4294279A19}"/>
              </a:ext>
            </a:extLst>
          </p:cNvPr>
          <p:cNvSpPr>
            <a:spLocks xmlns:a="http://schemas.openxmlformats.org/drawingml/2006/main" noGrp="1"/>
          </p:cNvSpPr>
          <p:nvPr/>
        </p:nvSpPr>
        <p:spPr>
          <a:xfrm xmlns:a="http://schemas.openxmlformats.org/drawingml/2006/main">
            <a:off x="942975" y="56483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38" b="0">
                <a:solidFill>
                  <a:srgbClr val="526474"/>
                </a:solidFill>
                <a:latin typeface="Arial"/>
                <a:ea typeface="Arial"/>
                <a:cs typeface="Arial"/>
              </a:defRPr>
            </a:pPr>
            <a:r>
              <a:rPr sz="1238" b="0">
                <a:solidFill>
                  <a:srgbClr val="526474"/>
                </a:solidFill>
                <a:latin typeface="Arial"/>
                <a:ea typeface="Arial"/>
                <a:cs typeface="Arial"/>
              </a:rPr>
              <a:t>Draft answer  Test representative students on fixed search tasks; record completion, time, errors and satisfaction. Do not report metrics unless participants were measured.</a:t>
            </a:r>
          </a:p>
        </p:txBody>
      </p:sp>
    </p:spTree>
    <p:extLst>
      <p:ext uri="{BB962C8B-B14F-4D97-AF65-F5344CB8AC3E}">
        <p14:creationId xmlns:p14="http://schemas.microsoft.com/office/powerpoint/2010/main" val="2037350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2026-10-03T08:02:39.7380000Z</dcterms:created>
  <dcterms:modified xsi:type="dcterms:W3CDTF">2026-10-03T08:02:39.7380000Z</dcterms:modified>
</coreProperties>
</file>